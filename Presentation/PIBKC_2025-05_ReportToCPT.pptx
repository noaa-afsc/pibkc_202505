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6" r:id="rId2"/>
    <p:sldMasterId id="2147483669" r:id="rId3"/>
    <p:sldMasterId id="2147483673" r:id="rId4"/>
    <p:sldMasterId id="2147483677" r:id="rId5"/>
  </p:sldMasterIdLst>
  <p:notesMasterIdLst>
    <p:notesMasterId r:id="rId25"/>
  </p:notesMasterIdLst>
  <p:sldIdLst>
    <p:sldId id="256" r:id="rId6"/>
    <p:sldId id="262" r:id="rId7"/>
    <p:sldId id="285" r:id="rId8"/>
    <p:sldId id="270" r:id="rId9"/>
    <p:sldId id="271" r:id="rId10"/>
    <p:sldId id="272" r:id="rId11"/>
    <p:sldId id="273" r:id="rId12"/>
    <p:sldId id="274" r:id="rId13"/>
    <p:sldId id="288" r:id="rId14"/>
    <p:sldId id="282" r:id="rId15"/>
    <p:sldId id="275" r:id="rId16"/>
    <p:sldId id="276" r:id="rId17"/>
    <p:sldId id="277" r:id="rId18"/>
    <p:sldId id="281" r:id="rId19"/>
    <p:sldId id="283" r:id="rId20"/>
    <p:sldId id="284" r:id="rId21"/>
    <p:sldId id="286" r:id="rId22"/>
    <p:sldId id="27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1pPr>
    <a:lvl2pPr marL="439598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2pPr>
    <a:lvl3pPr marL="879196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3pPr>
    <a:lvl4pPr marL="1318793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4pPr>
    <a:lvl5pPr marL="1758391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5pPr>
    <a:lvl6pPr marL="2197989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6pPr>
    <a:lvl7pPr marL="2637587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7pPr>
    <a:lvl8pPr marL="3077185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8pPr>
    <a:lvl9pPr marL="3516782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7"/>
    <p:restoredTop sz="80390"/>
  </p:normalViewPr>
  <p:slideViewPr>
    <p:cSldViewPr snapToGrid="0" snapToObjects="1">
      <p:cViewPr varScale="1">
        <p:scale>
          <a:sx n="114" d="100"/>
          <a:sy n="114" d="100"/>
        </p:scale>
        <p:origin x="51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7CC2E-B911-4744-A6D1-35A826A39879}" type="datetimeFigureOut">
              <a:rPr lang="en-US" smtClean="0"/>
              <a:t>5/9/25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602DC-62F2-AE46-985F-5D0ACF62C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00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602DC-62F2-AE46-985F-5D0ACF62C1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0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left column</a:t>
            </a: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The probability of non-detection (zero catch), by crab density (x-axis) and number of</a:t>
            </a:r>
            <a:endParaRPr lang="en-US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hauls (color scale). Densities (x axis) were calculated as a function of the probability</a:t>
            </a:r>
            <a:endParaRPr lang="en-US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of non-detection (y axis) and the number of hauls, but the plot has been transposed.</a:t>
            </a:r>
            <a:endParaRPr lang="en-US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The lower plot is limited to density &lt; 50 crab/sq. </a:t>
            </a:r>
            <a:r>
              <a:rPr lang="en-US" i="1" dirty="0" err="1">
                <a:effectLst/>
                <a:latin typeface="Helvetica" pitchFamily="2" charset="0"/>
              </a:rPr>
              <a:t>nmi</a:t>
            </a:r>
            <a:r>
              <a:rPr lang="en-US" i="1" dirty="0">
                <a:effectLst/>
                <a:latin typeface="Helvetica" pitchFamily="2" charset="0"/>
              </a:rPr>
              <a:t> to better show details at low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densities.</a:t>
            </a:r>
            <a:endParaRPr lang="en-US" dirty="0">
              <a:effectLst/>
              <a:latin typeface="Helvetica" pitchFamily="2" charset="0"/>
            </a:endParaRPr>
          </a:p>
          <a:p>
            <a:endParaRPr lang="en-US" dirty="0"/>
          </a:p>
          <a:p>
            <a:r>
              <a:rPr lang="en-US" dirty="0"/>
              <a:t>right column</a:t>
            </a: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The estimated time series of mature male total abundance (upper) / biomass (lower)  from the NMFS survey (blue</a:t>
            </a:r>
            <a:endParaRPr lang="en-US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line and points), with total abundance/biomass corresponding to non-detection probabilities of</a:t>
            </a:r>
            <a:endParaRPr lang="en-US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0.5 (green line) and 0.8 and 0.2 (lower and upper bounds of grey shading), based on the</a:t>
            </a:r>
            <a:endParaRPr lang="en-US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number of hauls conducted for PIBKC each year. The green shading indicates the +/-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1 CV interval for the 0.5 non-detection values.</a:t>
            </a:r>
            <a:endParaRPr lang="en-US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602DC-62F2-AE46-985F-5D0ACF62C1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8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602DC-62F2-AE46-985F-5D0ACF62C19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61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8693" y="1982001"/>
            <a:ext cx="10053102" cy="2166747"/>
          </a:xfrm>
        </p:spPr>
        <p:txBody>
          <a:bodyPr lIns="0" tIns="0" rIns="0" bIns="0" anchor="t" anchorCtr="0"/>
          <a:lstStyle>
            <a:lvl1pPr algn="l">
              <a:defRPr sz="88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3098B2D-8A13-124B-B1CB-B87713E7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815" y="4691255"/>
            <a:ext cx="9715456" cy="1898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183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0681-16A3-C346-9519-69310A1E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815" y="1957005"/>
            <a:ext cx="9204435" cy="2166747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8E6F8-DF02-F34F-A4F7-C776C3DEF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815" y="4691255"/>
            <a:ext cx="9715456" cy="1898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52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Navy">
    <p:bg>
      <p:bgPr>
        <a:solidFill>
          <a:srgbClr val="003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BE0A-777D-504C-9E3D-8D4D2A43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88208-611D-E847-8A09-87A05C6CA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815" y="4691255"/>
            <a:ext cx="9715456" cy="1898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622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5888-A6FD-D549-95D7-7557B3908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A1066-8A4B-7748-AD72-4F2F8518D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A9DA9-3827-0740-B819-755B904F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46A5A-4A44-D540-925D-0E849C4A0352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0D90-4E7F-2843-AC6C-7F38C3BCD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EDA0F-BE0A-8746-AB06-F0D4244E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AE63-E903-BD41-90C2-C1410C5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53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51F5-EBC0-2443-88B1-D4CD354A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4E1B-1A50-CD44-815E-2EC0CEE84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EE8C-417A-D448-BFB0-577406FF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46A5A-4A44-D540-925D-0E849C4A0352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606D4-0827-1442-BE7F-9FA4806C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77D53-FCD5-394B-B7F7-4D786304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AE63-E903-BD41-90C2-C1410C5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6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Swoo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6C0D-47F9-6841-BD5D-8664022C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23AFC-DFEA-EA42-B969-F4DC89FB03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790700"/>
            <a:ext cx="9142228" cy="4512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A02877-EBE3-0D4A-B42C-7980F2B3E629}"/>
              </a:ext>
            </a:extLst>
          </p:cNvPr>
          <p:cNvSpPr txBox="1">
            <a:spLocks/>
          </p:cNvSpPr>
          <p:nvPr userDrawn="1"/>
        </p:nvSpPr>
        <p:spPr>
          <a:xfrm>
            <a:off x="914407" y="6317621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103D72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4046B-FC7B-BF4D-AC35-6050B2AA2C5B}"/>
              </a:ext>
            </a:extLst>
          </p:cNvPr>
          <p:cNvSpPr txBox="1"/>
          <p:nvPr userDrawn="1"/>
        </p:nvSpPr>
        <p:spPr>
          <a:xfrm>
            <a:off x="168165" y="6304133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200" b="1" i="0" smtClean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b="1" i="0" dirty="0">
              <a:solidFill>
                <a:srgbClr val="13B9C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17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rgbClr val="003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691825-53C1-9F41-80DA-101D3F1D6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53306"/>
            <a:ext cx="12192000" cy="78483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85000"/>
              </a:lnSpc>
              <a:defRPr sz="6000" b="0" i="0" baseline="0">
                <a:solidFill>
                  <a:schemeClr val="bg1"/>
                </a:solidFill>
                <a:latin typeface="Cambria" charset="0"/>
                <a:ea typeface="Cambria" charset="0"/>
                <a:cs typeface="Cambri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25C8CD8-6236-774E-A0AB-63A42D236F2B}"/>
              </a:ext>
            </a:extLst>
          </p:cNvPr>
          <p:cNvSpPr/>
          <p:nvPr userDrawn="1"/>
        </p:nvSpPr>
        <p:spPr>
          <a:xfrm rot="5400000" flipV="1">
            <a:off x="8649666" y="3333640"/>
            <a:ext cx="1980742" cy="5106417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 flip="none" rotWithShape="1">
            <a:gsLst>
              <a:gs pos="99000">
                <a:schemeClr val="bg2">
                  <a:lumMod val="75000"/>
                  <a:alpha val="8785"/>
                </a:schemeClr>
              </a:gs>
              <a:gs pos="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8F5B12D-85DD-F241-8B56-EEC4BD9BDD6B}"/>
              </a:ext>
            </a:extLst>
          </p:cNvPr>
          <p:cNvSpPr/>
          <p:nvPr userDrawn="1"/>
        </p:nvSpPr>
        <p:spPr>
          <a:xfrm rot="16200000" flipH="1">
            <a:off x="9943737" y="4625267"/>
            <a:ext cx="1453703" cy="3045315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NOAA Fisheries logo">
            <a:extLst>
              <a:ext uri="{FF2B5EF4-FFF2-40B4-BE49-F238E27FC236}">
                <a16:creationId xmlns:a16="http://schemas.microsoft.com/office/drawing/2014/main" id="{594C098F-F455-654A-92AD-30ECB71455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2421" y="6156230"/>
            <a:ext cx="1404945" cy="64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55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5888-A6FD-D549-95D7-7557B3908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A1066-8A4B-7748-AD72-4F2F8518D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A9DA9-3827-0740-B819-755B904F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46A5A-4A44-D540-925D-0E849C4A0352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0D90-4E7F-2843-AC6C-7F38C3BCD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EDA0F-BE0A-8746-AB06-F0D4244E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AE63-E903-BD41-90C2-C1410C5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57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51F5-EBC0-2443-88B1-D4CD354A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4E1B-1A50-CD44-815E-2EC0CEE84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EE8C-417A-D448-BFB0-577406FF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46A5A-4A44-D540-925D-0E849C4A0352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606D4-0827-1442-BE7F-9FA4806C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77D53-FCD5-394B-B7F7-4D786304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AE63-E903-BD41-90C2-C1410C5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7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0ADD280-1746-584A-94C6-7D1A4EACE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360" y="1169179"/>
            <a:ext cx="9003627" cy="248683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4ABA656-77FD-0644-A7C6-67C656337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360" y="4038310"/>
            <a:ext cx="9003627" cy="24868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251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5310D-154B-C240-B2EA-0096AFD85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66EEC-DA0B-7743-AF7A-DD79DA2B11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66360" y="4038310"/>
            <a:ext cx="9003627" cy="24033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39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91439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Cambria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0176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1B37-B6A0-6347-9A5C-620A7C8B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308B2-E3B1-2842-BEB4-D56CD85A49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66360" y="4038310"/>
            <a:ext cx="9003627" cy="23869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39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91439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Cambria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3210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5888-A6FD-D549-95D7-7557B3908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A1066-8A4B-7748-AD72-4F2F8518D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A9DA9-3827-0740-B819-755B904F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46A5A-4A44-D540-925D-0E849C4A0352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0D90-4E7F-2843-AC6C-7F38C3BCD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EDA0F-BE0A-8746-AB06-F0D4244E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AE63-E903-BD41-90C2-C1410C5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51F5-EBC0-2443-88B1-D4CD354A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4E1B-1A50-CD44-815E-2EC0CEE84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EE8C-417A-D448-BFB0-577406FF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46A5A-4A44-D540-925D-0E849C4A0352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606D4-0827-1442-BE7F-9FA4806C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77D53-FCD5-394B-B7F7-4D786304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AE63-E903-BD41-90C2-C1410C56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56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nning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6C0D-47F9-6841-BD5D-8664022C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23AFC-DFEA-EA42-B969-F4DC89FB03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790700"/>
            <a:ext cx="9142228" cy="4512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A02877-EBE3-0D4A-B42C-7980F2B3E629}"/>
              </a:ext>
            </a:extLst>
          </p:cNvPr>
          <p:cNvSpPr txBox="1">
            <a:spLocks/>
          </p:cNvSpPr>
          <p:nvPr userDrawn="1"/>
        </p:nvSpPr>
        <p:spPr>
          <a:xfrm>
            <a:off x="914407" y="6317621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103D72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4046B-FC7B-BF4D-AC35-6050B2AA2C5B}"/>
              </a:ext>
            </a:extLst>
          </p:cNvPr>
          <p:cNvSpPr txBox="1"/>
          <p:nvPr userDrawn="1"/>
        </p:nvSpPr>
        <p:spPr>
          <a:xfrm>
            <a:off x="168165" y="6304133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200" b="1" i="0" smtClean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b="1" i="0" dirty="0">
              <a:solidFill>
                <a:srgbClr val="13B9C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346C586-E180-2843-AAC7-2F8522E77B54}"/>
              </a:ext>
            </a:extLst>
          </p:cNvPr>
          <p:cNvSpPr/>
          <p:nvPr userDrawn="1"/>
        </p:nvSpPr>
        <p:spPr>
          <a:xfrm rot="10800000" flipH="1" flipV="1">
            <a:off x="9436274" y="-1"/>
            <a:ext cx="2733012" cy="6858001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8461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84619 w 1696743"/>
              <a:gd name="connsiteY4" fmla="*/ 5463677 h 5463677"/>
              <a:gd name="connsiteX0" fmla="*/ 1684619 w 1684980"/>
              <a:gd name="connsiteY0" fmla="*/ 5463677 h 5463677"/>
              <a:gd name="connsiteX1" fmla="*/ 0 w 1684980"/>
              <a:gd name="connsiteY1" fmla="*/ 5454085 h 5463677"/>
              <a:gd name="connsiteX2" fmla="*/ 980930 w 1684980"/>
              <a:gd name="connsiteY2" fmla="*/ 0 h 5463677"/>
              <a:gd name="connsiteX3" fmla="*/ 1661463 w 1684980"/>
              <a:gd name="connsiteY3" fmla="*/ 4620 h 5463677"/>
              <a:gd name="connsiteX4" fmla="*/ 1684619 w 1684980"/>
              <a:gd name="connsiteY4" fmla="*/ 5463677 h 5463677"/>
              <a:gd name="connsiteX0" fmla="*/ 1684619 w 1685254"/>
              <a:gd name="connsiteY0" fmla="*/ 5463677 h 5463677"/>
              <a:gd name="connsiteX1" fmla="*/ 0 w 1685254"/>
              <a:gd name="connsiteY1" fmla="*/ 5454085 h 5463677"/>
              <a:gd name="connsiteX2" fmla="*/ 980930 w 1685254"/>
              <a:gd name="connsiteY2" fmla="*/ 0 h 5463677"/>
              <a:gd name="connsiteX3" fmla="*/ 1661463 w 1685254"/>
              <a:gd name="connsiteY3" fmla="*/ 4620 h 5463677"/>
              <a:gd name="connsiteX4" fmla="*/ 1684619 w 1685254"/>
              <a:gd name="connsiteY4" fmla="*/ 5463677 h 5463677"/>
              <a:gd name="connsiteX0" fmla="*/ 1684619 w 1691967"/>
              <a:gd name="connsiteY0" fmla="*/ 5463677 h 5463677"/>
              <a:gd name="connsiteX1" fmla="*/ 0 w 1691967"/>
              <a:gd name="connsiteY1" fmla="*/ 5454085 h 5463677"/>
              <a:gd name="connsiteX2" fmla="*/ 980930 w 1691967"/>
              <a:gd name="connsiteY2" fmla="*/ 0 h 5463677"/>
              <a:gd name="connsiteX3" fmla="*/ 1686663 w 1691967"/>
              <a:gd name="connsiteY3" fmla="*/ 4620 h 5463677"/>
              <a:gd name="connsiteX4" fmla="*/ 1684619 w 1691967"/>
              <a:gd name="connsiteY4" fmla="*/ 5463677 h 5463677"/>
              <a:gd name="connsiteX0" fmla="*/ 1593900 w 1687521"/>
              <a:gd name="connsiteY0" fmla="*/ 5463677 h 5463677"/>
              <a:gd name="connsiteX1" fmla="*/ 0 w 1687521"/>
              <a:gd name="connsiteY1" fmla="*/ 5454085 h 5463677"/>
              <a:gd name="connsiteX2" fmla="*/ 980930 w 1687521"/>
              <a:gd name="connsiteY2" fmla="*/ 0 h 5463677"/>
              <a:gd name="connsiteX3" fmla="*/ 1686663 w 1687521"/>
              <a:gd name="connsiteY3" fmla="*/ 4620 h 5463677"/>
              <a:gd name="connsiteX4" fmla="*/ 1593900 w 1687521"/>
              <a:gd name="connsiteY4" fmla="*/ 5463677 h 5463677"/>
              <a:gd name="connsiteX0" fmla="*/ 1593900 w 1687130"/>
              <a:gd name="connsiteY0" fmla="*/ 5463677 h 5463677"/>
              <a:gd name="connsiteX1" fmla="*/ 0 w 1687130"/>
              <a:gd name="connsiteY1" fmla="*/ 5454085 h 5463677"/>
              <a:gd name="connsiteX2" fmla="*/ 980930 w 1687130"/>
              <a:gd name="connsiteY2" fmla="*/ 0 h 5463677"/>
              <a:gd name="connsiteX3" fmla="*/ 1686663 w 1687130"/>
              <a:gd name="connsiteY3" fmla="*/ 4620 h 5463677"/>
              <a:gd name="connsiteX4" fmla="*/ 1593900 w 1687130"/>
              <a:gd name="connsiteY4" fmla="*/ 5463677 h 546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7130" h="5463677">
                <a:moveTo>
                  <a:pt x="1593900" y="5463677"/>
                </a:moveTo>
                <a:lnTo>
                  <a:pt x="0" y="5454085"/>
                </a:lnTo>
                <a:lnTo>
                  <a:pt x="980930" y="0"/>
                </a:lnTo>
                <a:lnTo>
                  <a:pt x="1686663" y="4620"/>
                </a:lnTo>
                <a:cubicBezTo>
                  <a:pt x="1697742" y="2539787"/>
                  <a:pt x="1507222" y="3468373"/>
                  <a:pt x="1593900" y="5463677"/>
                </a:cubicBezTo>
                <a:close/>
              </a:path>
            </a:pathLst>
          </a:custGeom>
          <a:gradFill flip="none" rotWithShape="1">
            <a:gsLst>
              <a:gs pos="100000">
                <a:srgbClr val="07477D">
                  <a:alpha val="34000"/>
                </a:srgbClr>
              </a:gs>
              <a:gs pos="42000">
                <a:srgbClr val="07477D">
                  <a:alpha val="0"/>
                </a:srgb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86D1C4C-7BF3-7D49-95F9-24B64C0A2B33}"/>
              </a:ext>
            </a:extLst>
          </p:cNvPr>
          <p:cNvSpPr/>
          <p:nvPr userDrawn="1"/>
        </p:nvSpPr>
        <p:spPr>
          <a:xfrm>
            <a:off x="10173343" y="0"/>
            <a:ext cx="2018657" cy="6870664"/>
          </a:xfrm>
          <a:custGeom>
            <a:avLst/>
            <a:gdLst>
              <a:gd name="connsiteX0" fmla="*/ 2004484 w 2018657"/>
              <a:gd name="connsiteY0" fmla="*/ 0 h 6870664"/>
              <a:gd name="connsiteX1" fmla="*/ 2018657 w 2018657"/>
              <a:gd name="connsiteY1" fmla="*/ 0 h 6870664"/>
              <a:gd name="connsiteX2" fmla="*/ 2018657 w 2018657"/>
              <a:gd name="connsiteY2" fmla="*/ 6870664 h 6870664"/>
              <a:gd name="connsiteX3" fmla="*/ 0 w 2018657"/>
              <a:gd name="connsiteY3" fmla="*/ 6870664 h 6870664"/>
              <a:gd name="connsiteX4" fmla="*/ 155565 w 2018657"/>
              <a:gd name="connsiteY4" fmla="*/ 6774688 h 6870664"/>
              <a:gd name="connsiteX5" fmla="*/ 1980631 w 2018657"/>
              <a:gd name="connsiteY5" fmla="*/ 312225 h 6870664"/>
              <a:gd name="connsiteX6" fmla="*/ 2004484 w 2018657"/>
              <a:gd name="connsiteY6" fmla="*/ 0 h 68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657" h="6870664">
                <a:moveTo>
                  <a:pt x="2004484" y="0"/>
                </a:moveTo>
                <a:lnTo>
                  <a:pt x="2018657" y="0"/>
                </a:lnTo>
                <a:lnTo>
                  <a:pt x="2018657" y="6870664"/>
                </a:lnTo>
                <a:lnTo>
                  <a:pt x="0" y="6870664"/>
                </a:lnTo>
                <a:lnTo>
                  <a:pt x="155565" y="6774688"/>
                </a:lnTo>
                <a:cubicBezTo>
                  <a:pt x="1007953" y="6069582"/>
                  <a:pt x="1699475" y="3579231"/>
                  <a:pt x="1980631" y="312225"/>
                </a:cubicBezTo>
                <a:lnTo>
                  <a:pt x="20044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" name="Picture 8" descr="NOAA Fisheries logo">
            <a:extLst>
              <a:ext uri="{FF2B5EF4-FFF2-40B4-BE49-F238E27FC236}">
                <a16:creationId xmlns:a16="http://schemas.microsoft.com/office/drawing/2014/main" id="{9C8D30A5-4B3E-6F4F-BA79-CA1E34EEAC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3733" y="6139452"/>
            <a:ext cx="1404945" cy="64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618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Running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BA727C-65E7-1840-859C-7711623BA970}"/>
              </a:ext>
            </a:extLst>
          </p:cNvPr>
          <p:cNvSpPr/>
          <p:nvPr userDrawn="1"/>
        </p:nvSpPr>
        <p:spPr>
          <a:xfrm>
            <a:off x="0" y="6319157"/>
            <a:ext cx="12184857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8F1FAE-B201-8645-B986-B1F9D6318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88" y="365760"/>
            <a:ext cx="11453326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C0D7069-68F8-6A48-8041-9FE7C81131C5}"/>
              </a:ext>
            </a:extLst>
          </p:cNvPr>
          <p:cNvSpPr txBox="1">
            <a:spLocks/>
          </p:cNvSpPr>
          <p:nvPr userDrawn="1"/>
        </p:nvSpPr>
        <p:spPr>
          <a:xfrm>
            <a:off x="838200" y="1825625"/>
            <a:ext cx="91712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78" indent="-182878" algn="l" defTabSz="91439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3120" kern="1200" spc="11" baseline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195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731513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05830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280147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1599984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82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78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76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78" marR="0" lvl="0" indent="-182878" algn="l" defTabSz="91439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3120" b="0" i="0" u="none" strike="noStrike" kern="1200" cap="none" spc="11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Click to edit Master text styles</a:t>
            </a:r>
          </a:p>
          <a:p>
            <a:pPr marL="457195" marR="0" lvl="1" indent="-182878" algn="l" defTabSz="91439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Second level</a:t>
            </a:r>
          </a:p>
          <a:p>
            <a:pPr marL="731513" marR="0" lvl="2" indent="-182878" algn="l" defTabSz="91439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16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Third level</a:t>
            </a:r>
          </a:p>
          <a:p>
            <a:pPr marL="1005830" marR="0" lvl="3" indent="-182878" algn="l" defTabSz="91439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16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Fourth level</a:t>
            </a:r>
          </a:p>
          <a:p>
            <a:pPr marL="1280147" marR="0" lvl="4" indent="-182878" algn="l" defTabSz="91439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16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25D848B-C6A7-314E-9829-467E1D4CF396}"/>
              </a:ext>
            </a:extLst>
          </p:cNvPr>
          <p:cNvSpPr/>
          <p:nvPr userDrawn="1"/>
        </p:nvSpPr>
        <p:spPr>
          <a:xfrm rot="10800000" flipH="1" flipV="1">
            <a:off x="9436274" y="-1"/>
            <a:ext cx="2733012" cy="6858001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8461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84619 w 1696743"/>
              <a:gd name="connsiteY4" fmla="*/ 5463677 h 5463677"/>
              <a:gd name="connsiteX0" fmla="*/ 1684619 w 1684980"/>
              <a:gd name="connsiteY0" fmla="*/ 5463677 h 5463677"/>
              <a:gd name="connsiteX1" fmla="*/ 0 w 1684980"/>
              <a:gd name="connsiteY1" fmla="*/ 5454085 h 5463677"/>
              <a:gd name="connsiteX2" fmla="*/ 980930 w 1684980"/>
              <a:gd name="connsiteY2" fmla="*/ 0 h 5463677"/>
              <a:gd name="connsiteX3" fmla="*/ 1661463 w 1684980"/>
              <a:gd name="connsiteY3" fmla="*/ 4620 h 5463677"/>
              <a:gd name="connsiteX4" fmla="*/ 1684619 w 1684980"/>
              <a:gd name="connsiteY4" fmla="*/ 5463677 h 5463677"/>
              <a:gd name="connsiteX0" fmla="*/ 1684619 w 1685254"/>
              <a:gd name="connsiteY0" fmla="*/ 5463677 h 5463677"/>
              <a:gd name="connsiteX1" fmla="*/ 0 w 1685254"/>
              <a:gd name="connsiteY1" fmla="*/ 5454085 h 5463677"/>
              <a:gd name="connsiteX2" fmla="*/ 980930 w 1685254"/>
              <a:gd name="connsiteY2" fmla="*/ 0 h 5463677"/>
              <a:gd name="connsiteX3" fmla="*/ 1661463 w 1685254"/>
              <a:gd name="connsiteY3" fmla="*/ 4620 h 5463677"/>
              <a:gd name="connsiteX4" fmla="*/ 1684619 w 1685254"/>
              <a:gd name="connsiteY4" fmla="*/ 5463677 h 5463677"/>
              <a:gd name="connsiteX0" fmla="*/ 1684619 w 1691967"/>
              <a:gd name="connsiteY0" fmla="*/ 5463677 h 5463677"/>
              <a:gd name="connsiteX1" fmla="*/ 0 w 1691967"/>
              <a:gd name="connsiteY1" fmla="*/ 5454085 h 5463677"/>
              <a:gd name="connsiteX2" fmla="*/ 980930 w 1691967"/>
              <a:gd name="connsiteY2" fmla="*/ 0 h 5463677"/>
              <a:gd name="connsiteX3" fmla="*/ 1686663 w 1691967"/>
              <a:gd name="connsiteY3" fmla="*/ 4620 h 5463677"/>
              <a:gd name="connsiteX4" fmla="*/ 1684619 w 1691967"/>
              <a:gd name="connsiteY4" fmla="*/ 5463677 h 5463677"/>
              <a:gd name="connsiteX0" fmla="*/ 1593900 w 1687521"/>
              <a:gd name="connsiteY0" fmla="*/ 5463677 h 5463677"/>
              <a:gd name="connsiteX1" fmla="*/ 0 w 1687521"/>
              <a:gd name="connsiteY1" fmla="*/ 5454085 h 5463677"/>
              <a:gd name="connsiteX2" fmla="*/ 980930 w 1687521"/>
              <a:gd name="connsiteY2" fmla="*/ 0 h 5463677"/>
              <a:gd name="connsiteX3" fmla="*/ 1686663 w 1687521"/>
              <a:gd name="connsiteY3" fmla="*/ 4620 h 5463677"/>
              <a:gd name="connsiteX4" fmla="*/ 1593900 w 1687521"/>
              <a:gd name="connsiteY4" fmla="*/ 5463677 h 5463677"/>
              <a:gd name="connsiteX0" fmla="*/ 1593900 w 1687130"/>
              <a:gd name="connsiteY0" fmla="*/ 5463677 h 5463677"/>
              <a:gd name="connsiteX1" fmla="*/ 0 w 1687130"/>
              <a:gd name="connsiteY1" fmla="*/ 5454085 h 5463677"/>
              <a:gd name="connsiteX2" fmla="*/ 980930 w 1687130"/>
              <a:gd name="connsiteY2" fmla="*/ 0 h 5463677"/>
              <a:gd name="connsiteX3" fmla="*/ 1686663 w 1687130"/>
              <a:gd name="connsiteY3" fmla="*/ 4620 h 5463677"/>
              <a:gd name="connsiteX4" fmla="*/ 1593900 w 1687130"/>
              <a:gd name="connsiteY4" fmla="*/ 5463677 h 546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7130" h="5463677">
                <a:moveTo>
                  <a:pt x="1593900" y="5463677"/>
                </a:moveTo>
                <a:lnTo>
                  <a:pt x="0" y="5454085"/>
                </a:lnTo>
                <a:lnTo>
                  <a:pt x="980930" y="0"/>
                </a:lnTo>
                <a:lnTo>
                  <a:pt x="1686663" y="4620"/>
                </a:lnTo>
                <a:cubicBezTo>
                  <a:pt x="1697742" y="2539787"/>
                  <a:pt x="1507222" y="3468373"/>
                  <a:pt x="1593900" y="5463677"/>
                </a:cubicBezTo>
                <a:close/>
              </a:path>
            </a:pathLst>
          </a:custGeom>
          <a:gradFill flip="none" rotWithShape="1">
            <a:gsLst>
              <a:gs pos="100000">
                <a:srgbClr val="07477D">
                  <a:alpha val="34000"/>
                </a:srgbClr>
              </a:gs>
              <a:gs pos="42000">
                <a:srgbClr val="07477D">
                  <a:alpha val="0"/>
                </a:srgb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3F564CC-E72E-934E-8150-7C713F58C38A}"/>
              </a:ext>
            </a:extLst>
          </p:cNvPr>
          <p:cNvSpPr/>
          <p:nvPr userDrawn="1"/>
        </p:nvSpPr>
        <p:spPr>
          <a:xfrm>
            <a:off x="10173343" y="0"/>
            <a:ext cx="2018657" cy="6870664"/>
          </a:xfrm>
          <a:custGeom>
            <a:avLst/>
            <a:gdLst>
              <a:gd name="connsiteX0" fmla="*/ 2004484 w 2018657"/>
              <a:gd name="connsiteY0" fmla="*/ 0 h 6870664"/>
              <a:gd name="connsiteX1" fmla="*/ 2018657 w 2018657"/>
              <a:gd name="connsiteY1" fmla="*/ 0 h 6870664"/>
              <a:gd name="connsiteX2" fmla="*/ 2018657 w 2018657"/>
              <a:gd name="connsiteY2" fmla="*/ 6870664 h 6870664"/>
              <a:gd name="connsiteX3" fmla="*/ 0 w 2018657"/>
              <a:gd name="connsiteY3" fmla="*/ 6870664 h 6870664"/>
              <a:gd name="connsiteX4" fmla="*/ 155565 w 2018657"/>
              <a:gd name="connsiteY4" fmla="*/ 6774688 h 6870664"/>
              <a:gd name="connsiteX5" fmla="*/ 1980631 w 2018657"/>
              <a:gd name="connsiteY5" fmla="*/ 312225 h 6870664"/>
              <a:gd name="connsiteX6" fmla="*/ 2004484 w 2018657"/>
              <a:gd name="connsiteY6" fmla="*/ 0 h 68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657" h="6870664">
                <a:moveTo>
                  <a:pt x="2004484" y="0"/>
                </a:moveTo>
                <a:lnTo>
                  <a:pt x="2018657" y="0"/>
                </a:lnTo>
                <a:lnTo>
                  <a:pt x="2018657" y="6870664"/>
                </a:lnTo>
                <a:lnTo>
                  <a:pt x="0" y="6870664"/>
                </a:lnTo>
                <a:lnTo>
                  <a:pt x="155565" y="6774688"/>
                </a:lnTo>
                <a:cubicBezTo>
                  <a:pt x="1007953" y="6069582"/>
                  <a:pt x="1699475" y="3579231"/>
                  <a:pt x="1980631" y="312225"/>
                </a:cubicBezTo>
                <a:lnTo>
                  <a:pt x="20044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 descr="NOAA Fisheries logo">
            <a:extLst>
              <a:ext uri="{FF2B5EF4-FFF2-40B4-BE49-F238E27FC236}">
                <a16:creationId xmlns:a16="http://schemas.microsoft.com/office/drawing/2014/main" id="{14E78A31-5B95-7F45-87EE-8764D3238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3733" y="6139452"/>
            <a:ext cx="1404945" cy="64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988D1BA-3DFA-9149-BAD1-AAA59BF08DAC}"/>
              </a:ext>
            </a:extLst>
          </p:cNvPr>
          <p:cNvSpPr txBox="1">
            <a:spLocks/>
          </p:cNvSpPr>
          <p:nvPr userDrawn="1"/>
        </p:nvSpPr>
        <p:spPr>
          <a:xfrm>
            <a:off x="914407" y="6317621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103D72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EAD8D-A13A-FB4F-AE5B-85EE490C64F9}"/>
              </a:ext>
            </a:extLst>
          </p:cNvPr>
          <p:cNvSpPr txBox="1"/>
          <p:nvPr userDrawn="1"/>
        </p:nvSpPr>
        <p:spPr>
          <a:xfrm>
            <a:off x="168165" y="6304133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200" b="1" i="0" smtClean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b="1" i="0" dirty="0">
              <a:solidFill>
                <a:srgbClr val="13B9C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74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Running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BA727C-65E7-1840-859C-7711623BA970}"/>
              </a:ext>
            </a:extLst>
          </p:cNvPr>
          <p:cNvSpPr/>
          <p:nvPr userDrawn="1"/>
        </p:nvSpPr>
        <p:spPr>
          <a:xfrm>
            <a:off x="0" y="6319157"/>
            <a:ext cx="12184857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8F1FAE-B201-8645-B986-B1F9D6318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88" y="365760"/>
            <a:ext cx="11453326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C0D7069-68F8-6A48-8041-9FE7C81131C5}"/>
              </a:ext>
            </a:extLst>
          </p:cNvPr>
          <p:cNvSpPr txBox="1">
            <a:spLocks/>
          </p:cNvSpPr>
          <p:nvPr userDrawn="1"/>
        </p:nvSpPr>
        <p:spPr>
          <a:xfrm>
            <a:off x="838200" y="1825625"/>
            <a:ext cx="91712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78" indent="-182878" algn="l" defTabSz="91439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3120" kern="1200" spc="11" baseline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195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731513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05830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280147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1599984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82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78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76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78" marR="0" lvl="0" indent="-182878" algn="l" defTabSz="91439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3120" b="0" i="0" u="none" strike="noStrike" kern="1200" cap="none" spc="11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Click to edit Master text styles</a:t>
            </a:r>
          </a:p>
          <a:p>
            <a:pPr marL="457195" marR="0" lvl="1" indent="-182878" algn="l" defTabSz="91439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Second level</a:t>
            </a:r>
          </a:p>
          <a:p>
            <a:pPr marL="731513" marR="0" lvl="2" indent="-182878" algn="l" defTabSz="91439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16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Third level</a:t>
            </a:r>
          </a:p>
          <a:p>
            <a:pPr marL="1005830" marR="0" lvl="3" indent="-182878" algn="l" defTabSz="91439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16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Fourth level</a:t>
            </a:r>
          </a:p>
          <a:p>
            <a:pPr marL="1280147" marR="0" lvl="4" indent="-182878" algn="l" defTabSz="91439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216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25D848B-C6A7-314E-9829-467E1D4CF396}"/>
              </a:ext>
            </a:extLst>
          </p:cNvPr>
          <p:cNvSpPr/>
          <p:nvPr userDrawn="1"/>
        </p:nvSpPr>
        <p:spPr>
          <a:xfrm rot="10800000" flipH="1" flipV="1">
            <a:off x="9436274" y="-1"/>
            <a:ext cx="2733012" cy="6858001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8461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84619 w 1696743"/>
              <a:gd name="connsiteY4" fmla="*/ 5463677 h 5463677"/>
              <a:gd name="connsiteX0" fmla="*/ 1684619 w 1684980"/>
              <a:gd name="connsiteY0" fmla="*/ 5463677 h 5463677"/>
              <a:gd name="connsiteX1" fmla="*/ 0 w 1684980"/>
              <a:gd name="connsiteY1" fmla="*/ 5454085 h 5463677"/>
              <a:gd name="connsiteX2" fmla="*/ 980930 w 1684980"/>
              <a:gd name="connsiteY2" fmla="*/ 0 h 5463677"/>
              <a:gd name="connsiteX3" fmla="*/ 1661463 w 1684980"/>
              <a:gd name="connsiteY3" fmla="*/ 4620 h 5463677"/>
              <a:gd name="connsiteX4" fmla="*/ 1684619 w 1684980"/>
              <a:gd name="connsiteY4" fmla="*/ 5463677 h 5463677"/>
              <a:gd name="connsiteX0" fmla="*/ 1684619 w 1685254"/>
              <a:gd name="connsiteY0" fmla="*/ 5463677 h 5463677"/>
              <a:gd name="connsiteX1" fmla="*/ 0 w 1685254"/>
              <a:gd name="connsiteY1" fmla="*/ 5454085 h 5463677"/>
              <a:gd name="connsiteX2" fmla="*/ 980930 w 1685254"/>
              <a:gd name="connsiteY2" fmla="*/ 0 h 5463677"/>
              <a:gd name="connsiteX3" fmla="*/ 1661463 w 1685254"/>
              <a:gd name="connsiteY3" fmla="*/ 4620 h 5463677"/>
              <a:gd name="connsiteX4" fmla="*/ 1684619 w 1685254"/>
              <a:gd name="connsiteY4" fmla="*/ 5463677 h 5463677"/>
              <a:gd name="connsiteX0" fmla="*/ 1684619 w 1691967"/>
              <a:gd name="connsiteY0" fmla="*/ 5463677 h 5463677"/>
              <a:gd name="connsiteX1" fmla="*/ 0 w 1691967"/>
              <a:gd name="connsiteY1" fmla="*/ 5454085 h 5463677"/>
              <a:gd name="connsiteX2" fmla="*/ 980930 w 1691967"/>
              <a:gd name="connsiteY2" fmla="*/ 0 h 5463677"/>
              <a:gd name="connsiteX3" fmla="*/ 1686663 w 1691967"/>
              <a:gd name="connsiteY3" fmla="*/ 4620 h 5463677"/>
              <a:gd name="connsiteX4" fmla="*/ 1684619 w 1691967"/>
              <a:gd name="connsiteY4" fmla="*/ 5463677 h 5463677"/>
              <a:gd name="connsiteX0" fmla="*/ 1593900 w 1687521"/>
              <a:gd name="connsiteY0" fmla="*/ 5463677 h 5463677"/>
              <a:gd name="connsiteX1" fmla="*/ 0 w 1687521"/>
              <a:gd name="connsiteY1" fmla="*/ 5454085 h 5463677"/>
              <a:gd name="connsiteX2" fmla="*/ 980930 w 1687521"/>
              <a:gd name="connsiteY2" fmla="*/ 0 h 5463677"/>
              <a:gd name="connsiteX3" fmla="*/ 1686663 w 1687521"/>
              <a:gd name="connsiteY3" fmla="*/ 4620 h 5463677"/>
              <a:gd name="connsiteX4" fmla="*/ 1593900 w 1687521"/>
              <a:gd name="connsiteY4" fmla="*/ 5463677 h 5463677"/>
              <a:gd name="connsiteX0" fmla="*/ 1593900 w 1687130"/>
              <a:gd name="connsiteY0" fmla="*/ 5463677 h 5463677"/>
              <a:gd name="connsiteX1" fmla="*/ 0 w 1687130"/>
              <a:gd name="connsiteY1" fmla="*/ 5454085 h 5463677"/>
              <a:gd name="connsiteX2" fmla="*/ 980930 w 1687130"/>
              <a:gd name="connsiteY2" fmla="*/ 0 h 5463677"/>
              <a:gd name="connsiteX3" fmla="*/ 1686663 w 1687130"/>
              <a:gd name="connsiteY3" fmla="*/ 4620 h 5463677"/>
              <a:gd name="connsiteX4" fmla="*/ 1593900 w 1687130"/>
              <a:gd name="connsiteY4" fmla="*/ 5463677 h 546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7130" h="5463677">
                <a:moveTo>
                  <a:pt x="1593900" y="5463677"/>
                </a:moveTo>
                <a:lnTo>
                  <a:pt x="0" y="5454085"/>
                </a:lnTo>
                <a:lnTo>
                  <a:pt x="980930" y="0"/>
                </a:lnTo>
                <a:lnTo>
                  <a:pt x="1686663" y="4620"/>
                </a:lnTo>
                <a:cubicBezTo>
                  <a:pt x="1697742" y="2539787"/>
                  <a:pt x="1507222" y="3468373"/>
                  <a:pt x="1593900" y="5463677"/>
                </a:cubicBezTo>
                <a:close/>
              </a:path>
            </a:pathLst>
          </a:custGeom>
          <a:gradFill flip="none" rotWithShape="1">
            <a:gsLst>
              <a:gs pos="100000">
                <a:srgbClr val="07477D">
                  <a:alpha val="34000"/>
                </a:srgbClr>
              </a:gs>
              <a:gs pos="42000">
                <a:srgbClr val="07477D">
                  <a:alpha val="0"/>
                </a:srgb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3F564CC-E72E-934E-8150-7C713F58C38A}"/>
              </a:ext>
            </a:extLst>
          </p:cNvPr>
          <p:cNvSpPr/>
          <p:nvPr userDrawn="1"/>
        </p:nvSpPr>
        <p:spPr>
          <a:xfrm>
            <a:off x="10173343" y="0"/>
            <a:ext cx="2018657" cy="6870664"/>
          </a:xfrm>
          <a:custGeom>
            <a:avLst/>
            <a:gdLst>
              <a:gd name="connsiteX0" fmla="*/ 2004484 w 2018657"/>
              <a:gd name="connsiteY0" fmla="*/ 0 h 6870664"/>
              <a:gd name="connsiteX1" fmla="*/ 2018657 w 2018657"/>
              <a:gd name="connsiteY1" fmla="*/ 0 h 6870664"/>
              <a:gd name="connsiteX2" fmla="*/ 2018657 w 2018657"/>
              <a:gd name="connsiteY2" fmla="*/ 6870664 h 6870664"/>
              <a:gd name="connsiteX3" fmla="*/ 0 w 2018657"/>
              <a:gd name="connsiteY3" fmla="*/ 6870664 h 6870664"/>
              <a:gd name="connsiteX4" fmla="*/ 155565 w 2018657"/>
              <a:gd name="connsiteY4" fmla="*/ 6774688 h 6870664"/>
              <a:gd name="connsiteX5" fmla="*/ 1980631 w 2018657"/>
              <a:gd name="connsiteY5" fmla="*/ 312225 h 6870664"/>
              <a:gd name="connsiteX6" fmla="*/ 2004484 w 2018657"/>
              <a:gd name="connsiteY6" fmla="*/ 0 h 68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657" h="6870664">
                <a:moveTo>
                  <a:pt x="2004484" y="0"/>
                </a:moveTo>
                <a:lnTo>
                  <a:pt x="2018657" y="0"/>
                </a:lnTo>
                <a:lnTo>
                  <a:pt x="2018657" y="6870664"/>
                </a:lnTo>
                <a:lnTo>
                  <a:pt x="0" y="6870664"/>
                </a:lnTo>
                <a:lnTo>
                  <a:pt x="155565" y="6774688"/>
                </a:lnTo>
                <a:cubicBezTo>
                  <a:pt x="1007953" y="6069582"/>
                  <a:pt x="1699475" y="3579231"/>
                  <a:pt x="1980631" y="312225"/>
                </a:cubicBezTo>
                <a:lnTo>
                  <a:pt x="20044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 descr="NOAA Fisheries logo">
            <a:extLst>
              <a:ext uri="{FF2B5EF4-FFF2-40B4-BE49-F238E27FC236}">
                <a16:creationId xmlns:a16="http://schemas.microsoft.com/office/drawing/2014/main" id="{14E78A31-5B95-7F45-87EE-8764D3238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3733" y="6139452"/>
            <a:ext cx="1404945" cy="64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5DF386-ED94-8E45-97A2-13A8671EEF1C}"/>
              </a:ext>
            </a:extLst>
          </p:cNvPr>
          <p:cNvSpPr txBox="1">
            <a:spLocks/>
          </p:cNvSpPr>
          <p:nvPr userDrawn="1"/>
        </p:nvSpPr>
        <p:spPr>
          <a:xfrm>
            <a:off x="914407" y="6317621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chemeClr val="bg2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8CC24-C793-6345-B141-212207FA4485}"/>
              </a:ext>
            </a:extLst>
          </p:cNvPr>
          <p:cNvSpPr txBox="1"/>
          <p:nvPr userDrawn="1"/>
        </p:nvSpPr>
        <p:spPr>
          <a:xfrm>
            <a:off x="168165" y="6304133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200" b="1" i="0" smtClean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b="1" i="0" dirty="0">
              <a:solidFill>
                <a:srgbClr val="13B9C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03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Divid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524038FA-FDDD-264F-AC41-2CCC88C807B9}"/>
              </a:ext>
            </a:extLst>
          </p:cNvPr>
          <p:cNvSpPr/>
          <p:nvPr userDrawn="1"/>
        </p:nvSpPr>
        <p:spPr>
          <a:xfrm rot="10800000">
            <a:off x="9" y="0"/>
            <a:ext cx="2238703" cy="6878155"/>
          </a:xfrm>
          <a:custGeom>
            <a:avLst/>
            <a:gdLst>
              <a:gd name="connsiteX0" fmla="*/ 2132070 w 2228193"/>
              <a:gd name="connsiteY0" fmla="*/ 0 h 6845864"/>
              <a:gd name="connsiteX1" fmla="*/ 2228193 w 2228193"/>
              <a:gd name="connsiteY1" fmla="*/ 0 h 6845864"/>
              <a:gd name="connsiteX2" fmla="*/ 2228193 w 2228193"/>
              <a:gd name="connsiteY2" fmla="*/ 6845864 h 6845864"/>
              <a:gd name="connsiteX3" fmla="*/ 0 w 2228193"/>
              <a:gd name="connsiteY3" fmla="*/ 6845864 h 6845864"/>
              <a:gd name="connsiteX4" fmla="*/ 163139 w 2228193"/>
              <a:gd name="connsiteY4" fmla="*/ 6755280 h 6845864"/>
              <a:gd name="connsiteX5" fmla="*/ 2130212 w 2228193"/>
              <a:gd name="connsiteY5" fmla="*/ 29715 h 6845864"/>
              <a:gd name="connsiteX6" fmla="*/ 2132070 w 2228193"/>
              <a:gd name="connsiteY6" fmla="*/ 0 h 684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193" h="6845864">
                <a:moveTo>
                  <a:pt x="2132070" y="0"/>
                </a:moveTo>
                <a:lnTo>
                  <a:pt x="2228193" y="0"/>
                </a:lnTo>
                <a:lnTo>
                  <a:pt x="2228193" y="6845864"/>
                </a:lnTo>
                <a:lnTo>
                  <a:pt x="0" y="6845864"/>
                </a:lnTo>
                <a:lnTo>
                  <a:pt x="163139" y="6755280"/>
                </a:lnTo>
                <a:cubicBezTo>
                  <a:pt x="1116618" y="6045423"/>
                  <a:pt x="1878156" y="3418473"/>
                  <a:pt x="2130212" y="29715"/>
                </a:cubicBezTo>
                <a:lnTo>
                  <a:pt x="2132070" y="0"/>
                </a:lnTo>
                <a:close/>
              </a:path>
            </a:pathLst>
          </a:custGeom>
          <a:solidFill>
            <a:srgbClr val="003155"/>
          </a:soli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F210A69-DB42-F049-9908-DE0AF0E86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619" y="907060"/>
            <a:ext cx="9418320" cy="78483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85000"/>
              </a:lnSpc>
              <a:defRPr sz="6000" b="0" i="0" baseline="0">
                <a:solidFill>
                  <a:srgbClr val="103D72"/>
                </a:solidFill>
                <a:latin typeface="Cambria" charset="0"/>
                <a:ea typeface="Cambria" charset="0"/>
                <a:cs typeface="Cambri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1F19056-CE13-8143-B28A-C02646E4F00B}"/>
              </a:ext>
            </a:extLst>
          </p:cNvPr>
          <p:cNvSpPr/>
          <p:nvPr userDrawn="1"/>
        </p:nvSpPr>
        <p:spPr>
          <a:xfrm rot="10800000" flipH="1" flipV="1">
            <a:off x="9436274" y="-1"/>
            <a:ext cx="2733012" cy="6858001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8461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84619 w 1696743"/>
              <a:gd name="connsiteY4" fmla="*/ 5463677 h 5463677"/>
              <a:gd name="connsiteX0" fmla="*/ 1684619 w 1684980"/>
              <a:gd name="connsiteY0" fmla="*/ 5463677 h 5463677"/>
              <a:gd name="connsiteX1" fmla="*/ 0 w 1684980"/>
              <a:gd name="connsiteY1" fmla="*/ 5454085 h 5463677"/>
              <a:gd name="connsiteX2" fmla="*/ 980930 w 1684980"/>
              <a:gd name="connsiteY2" fmla="*/ 0 h 5463677"/>
              <a:gd name="connsiteX3" fmla="*/ 1661463 w 1684980"/>
              <a:gd name="connsiteY3" fmla="*/ 4620 h 5463677"/>
              <a:gd name="connsiteX4" fmla="*/ 1684619 w 1684980"/>
              <a:gd name="connsiteY4" fmla="*/ 5463677 h 5463677"/>
              <a:gd name="connsiteX0" fmla="*/ 1684619 w 1685254"/>
              <a:gd name="connsiteY0" fmla="*/ 5463677 h 5463677"/>
              <a:gd name="connsiteX1" fmla="*/ 0 w 1685254"/>
              <a:gd name="connsiteY1" fmla="*/ 5454085 h 5463677"/>
              <a:gd name="connsiteX2" fmla="*/ 980930 w 1685254"/>
              <a:gd name="connsiteY2" fmla="*/ 0 h 5463677"/>
              <a:gd name="connsiteX3" fmla="*/ 1661463 w 1685254"/>
              <a:gd name="connsiteY3" fmla="*/ 4620 h 5463677"/>
              <a:gd name="connsiteX4" fmla="*/ 1684619 w 1685254"/>
              <a:gd name="connsiteY4" fmla="*/ 5463677 h 5463677"/>
              <a:gd name="connsiteX0" fmla="*/ 1684619 w 1691967"/>
              <a:gd name="connsiteY0" fmla="*/ 5463677 h 5463677"/>
              <a:gd name="connsiteX1" fmla="*/ 0 w 1691967"/>
              <a:gd name="connsiteY1" fmla="*/ 5454085 h 5463677"/>
              <a:gd name="connsiteX2" fmla="*/ 980930 w 1691967"/>
              <a:gd name="connsiteY2" fmla="*/ 0 h 5463677"/>
              <a:gd name="connsiteX3" fmla="*/ 1686663 w 1691967"/>
              <a:gd name="connsiteY3" fmla="*/ 4620 h 5463677"/>
              <a:gd name="connsiteX4" fmla="*/ 1684619 w 1691967"/>
              <a:gd name="connsiteY4" fmla="*/ 5463677 h 5463677"/>
              <a:gd name="connsiteX0" fmla="*/ 1593900 w 1687521"/>
              <a:gd name="connsiteY0" fmla="*/ 5463677 h 5463677"/>
              <a:gd name="connsiteX1" fmla="*/ 0 w 1687521"/>
              <a:gd name="connsiteY1" fmla="*/ 5454085 h 5463677"/>
              <a:gd name="connsiteX2" fmla="*/ 980930 w 1687521"/>
              <a:gd name="connsiteY2" fmla="*/ 0 h 5463677"/>
              <a:gd name="connsiteX3" fmla="*/ 1686663 w 1687521"/>
              <a:gd name="connsiteY3" fmla="*/ 4620 h 5463677"/>
              <a:gd name="connsiteX4" fmla="*/ 1593900 w 1687521"/>
              <a:gd name="connsiteY4" fmla="*/ 5463677 h 5463677"/>
              <a:gd name="connsiteX0" fmla="*/ 1593900 w 1687130"/>
              <a:gd name="connsiteY0" fmla="*/ 5463677 h 5463677"/>
              <a:gd name="connsiteX1" fmla="*/ 0 w 1687130"/>
              <a:gd name="connsiteY1" fmla="*/ 5454085 h 5463677"/>
              <a:gd name="connsiteX2" fmla="*/ 980930 w 1687130"/>
              <a:gd name="connsiteY2" fmla="*/ 0 h 5463677"/>
              <a:gd name="connsiteX3" fmla="*/ 1686663 w 1687130"/>
              <a:gd name="connsiteY3" fmla="*/ 4620 h 5463677"/>
              <a:gd name="connsiteX4" fmla="*/ 1593900 w 1687130"/>
              <a:gd name="connsiteY4" fmla="*/ 5463677 h 546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7130" h="5463677">
                <a:moveTo>
                  <a:pt x="1593900" y="5463677"/>
                </a:moveTo>
                <a:lnTo>
                  <a:pt x="0" y="5454085"/>
                </a:lnTo>
                <a:lnTo>
                  <a:pt x="980930" y="0"/>
                </a:lnTo>
                <a:lnTo>
                  <a:pt x="1686663" y="4620"/>
                </a:lnTo>
                <a:cubicBezTo>
                  <a:pt x="1697742" y="2539787"/>
                  <a:pt x="1507222" y="3468373"/>
                  <a:pt x="1593900" y="5463677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5">
                  <a:alpha val="80285"/>
                </a:schemeClr>
              </a:gs>
              <a:gs pos="42000">
                <a:schemeClr val="accent5">
                  <a:alpha val="0"/>
                </a:scheme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EFE90EF-91B4-C24F-A515-2811BBDEBE12}"/>
              </a:ext>
            </a:extLst>
          </p:cNvPr>
          <p:cNvSpPr/>
          <p:nvPr userDrawn="1"/>
        </p:nvSpPr>
        <p:spPr>
          <a:xfrm>
            <a:off x="10173343" y="0"/>
            <a:ext cx="2018657" cy="6870664"/>
          </a:xfrm>
          <a:custGeom>
            <a:avLst/>
            <a:gdLst>
              <a:gd name="connsiteX0" fmla="*/ 2004484 w 2018657"/>
              <a:gd name="connsiteY0" fmla="*/ 0 h 6870664"/>
              <a:gd name="connsiteX1" fmla="*/ 2018657 w 2018657"/>
              <a:gd name="connsiteY1" fmla="*/ 0 h 6870664"/>
              <a:gd name="connsiteX2" fmla="*/ 2018657 w 2018657"/>
              <a:gd name="connsiteY2" fmla="*/ 6870664 h 6870664"/>
              <a:gd name="connsiteX3" fmla="*/ 0 w 2018657"/>
              <a:gd name="connsiteY3" fmla="*/ 6870664 h 6870664"/>
              <a:gd name="connsiteX4" fmla="*/ 155565 w 2018657"/>
              <a:gd name="connsiteY4" fmla="*/ 6774688 h 6870664"/>
              <a:gd name="connsiteX5" fmla="*/ 1980631 w 2018657"/>
              <a:gd name="connsiteY5" fmla="*/ 312225 h 6870664"/>
              <a:gd name="connsiteX6" fmla="*/ 2004484 w 2018657"/>
              <a:gd name="connsiteY6" fmla="*/ 0 h 68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657" h="6870664">
                <a:moveTo>
                  <a:pt x="2004484" y="0"/>
                </a:moveTo>
                <a:lnTo>
                  <a:pt x="2018657" y="0"/>
                </a:lnTo>
                <a:lnTo>
                  <a:pt x="2018657" y="6870664"/>
                </a:lnTo>
                <a:lnTo>
                  <a:pt x="0" y="6870664"/>
                </a:lnTo>
                <a:lnTo>
                  <a:pt x="155565" y="6774688"/>
                </a:lnTo>
                <a:cubicBezTo>
                  <a:pt x="1007953" y="6069582"/>
                  <a:pt x="1699475" y="3579231"/>
                  <a:pt x="1980631" y="312225"/>
                </a:cubicBezTo>
                <a:lnTo>
                  <a:pt x="20044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6" name="Picture 15" descr="NOAA Fisheries logo">
            <a:extLst>
              <a:ext uri="{FF2B5EF4-FFF2-40B4-BE49-F238E27FC236}">
                <a16:creationId xmlns:a16="http://schemas.microsoft.com/office/drawing/2014/main" id="{33F9D978-BBC0-B54D-A916-AA302C9974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3733" y="6139452"/>
            <a:ext cx="1404945" cy="64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338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image divid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FDF21FA8-693C-4349-B50A-C002E55F7F5B}"/>
              </a:ext>
            </a:extLst>
          </p:cNvPr>
          <p:cNvSpPr/>
          <p:nvPr userDrawn="1"/>
        </p:nvSpPr>
        <p:spPr>
          <a:xfrm rot="10800000">
            <a:off x="9" y="0"/>
            <a:ext cx="2238703" cy="6878155"/>
          </a:xfrm>
          <a:custGeom>
            <a:avLst/>
            <a:gdLst>
              <a:gd name="connsiteX0" fmla="*/ 2132070 w 2228193"/>
              <a:gd name="connsiteY0" fmla="*/ 0 h 6845864"/>
              <a:gd name="connsiteX1" fmla="*/ 2228193 w 2228193"/>
              <a:gd name="connsiteY1" fmla="*/ 0 h 6845864"/>
              <a:gd name="connsiteX2" fmla="*/ 2228193 w 2228193"/>
              <a:gd name="connsiteY2" fmla="*/ 6845864 h 6845864"/>
              <a:gd name="connsiteX3" fmla="*/ 0 w 2228193"/>
              <a:gd name="connsiteY3" fmla="*/ 6845864 h 6845864"/>
              <a:gd name="connsiteX4" fmla="*/ 163139 w 2228193"/>
              <a:gd name="connsiteY4" fmla="*/ 6755280 h 6845864"/>
              <a:gd name="connsiteX5" fmla="*/ 2130212 w 2228193"/>
              <a:gd name="connsiteY5" fmla="*/ 29715 h 6845864"/>
              <a:gd name="connsiteX6" fmla="*/ 2132070 w 2228193"/>
              <a:gd name="connsiteY6" fmla="*/ 0 h 684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193" h="6845864">
                <a:moveTo>
                  <a:pt x="2132070" y="0"/>
                </a:moveTo>
                <a:lnTo>
                  <a:pt x="2228193" y="0"/>
                </a:lnTo>
                <a:lnTo>
                  <a:pt x="2228193" y="6845864"/>
                </a:lnTo>
                <a:lnTo>
                  <a:pt x="0" y="6845864"/>
                </a:lnTo>
                <a:lnTo>
                  <a:pt x="163139" y="6755280"/>
                </a:lnTo>
                <a:cubicBezTo>
                  <a:pt x="1116618" y="6045423"/>
                  <a:pt x="1878156" y="3418473"/>
                  <a:pt x="2130212" y="29715"/>
                </a:cubicBezTo>
                <a:lnTo>
                  <a:pt x="2132070" y="0"/>
                </a:lnTo>
                <a:close/>
              </a:path>
            </a:pathLst>
          </a:custGeom>
          <a:solidFill>
            <a:srgbClr val="003155"/>
          </a:soli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4860ED-2C07-EB41-9FEE-E420AA655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619" y="907060"/>
            <a:ext cx="9418320" cy="78483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85000"/>
              </a:lnSpc>
              <a:defRPr sz="6000" b="0" i="0" baseline="0">
                <a:solidFill>
                  <a:srgbClr val="103D72"/>
                </a:solidFill>
                <a:latin typeface="Cambria" charset="0"/>
                <a:ea typeface="Cambria" charset="0"/>
                <a:cs typeface="Cambri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072836C-A94D-9B40-9854-D8A4671D1A8B}"/>
              </a:ext>
            </a:extLst>
          </p:cNvPr>
          <p:cNvSpPr/>
          <p:nvPr userDrawn="1"/>
        </p:nvSpPr>
        <p:spPr>
          <a:xfrm rot="10800000" flipH="1" flipV="1">
            <a:off x="9436274" y="-1"/>
            <a:ext cx="2733012" cy="6858001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8461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84619 w 1696743"/>
              <a:gd name="connsiteY4" fmla="*/ 5463677 h 5463677"/>
              <a:gd name="connsiteX0" fmla="*/ 1684619 w 1684980"/>
              <a:gd name="connsiteY0" fmla="*/ 5463677 h 5463677"/>
              <a:gd name="connsiteX1" fmla="*/ 0 w 1684980"/>
              <a:gd name="connsiteY1" fmla="*/ 5454085 h 5463677"/>
              <a:gd name="connsiteX2" fmla="*/ 980930 w 1684980"/>
              <a:gd name="connsiteY2" fmla="*/ 0 h 5463677"/>
              <a:gd name="connsiteX3" fmla="*/ 1661463 w 1684980"/>
              <a:gd name="connsiteY3" fmla="*/ 4620 h 5463677"/>
              <a:gd name="connsiteX4" fmla="*/ 1684619 w 1684980"/>
              <a:gd name="connsiteY4" fmla="*/ 5463677 h 5463677"/>
              <a:gd name="connsiteX0" fmla="*/ 1684619 w 1685254"/>
              <a:gd name="connsiteY0" fmla="*/ 5463677 h 5463677"/>
              <a:gd name="connsiteX1" fmla="*/ 0 w 1685254"/>
              <a:gd name="connsiteY1" fmla="*/ 5454085 h 5463677"/>
              <a:gd name="connsiteX2" fmla="*/ 980930 w 1685254"/>
              <a:gd name="connsiteY2" fmla="*/ 0 h 5463677"/>
              <a:gd name="connsiteX3" fmla="*/ 1661463 w 1685254"/>
              <a:gd name="connsiteY3" fmla="*/ 4620 h 5463677"/>
              <a:gd name="connsiteX4" fmla="*/ 1684619 w 1685254"/>
              <a:gd name="connsiteY4" fmla="*/ 5463677 h 5463677"/>
              <a:gd name="connsiteX0" fmla="*/ 1684619 w 1691967"/>
              <a:gd name="connsiteY0" fmla="*/ 5463677 h 5463677"/>
              <a:gd name="connsiteX1" fmla="*/ 0 w 1691967"/>
              <a:gd name="connsiteY1" fmla="*/ 5454085 h 5463677"/>
              <a:gd name="connsiteX2" fmla="*/ 980930 w 1691967"/>
              <a:gd name="connsiteY2" fmla="*/ 0 h 5463677"/>
              <a:gd name="connsiteX3" fmla="*/ 1686663 w 1691967"/>
              <a:gd name="connsiteY3" fmla="*/ 4620 h 5463677"/>
              <a:gd name="connsiteX4" fmla="*/ 1684619 w 1691967"/>
              <a:gd name="connsiteY4" fmla="*/ 5463677 h 5463677"/>
              <a:gd name="connsiteX0" fmla="*/ 1593900 w 1687521"/>
              <a:gd name="connsiteY0" fmla="*/ 5463677 h 5463677"/>
              <a:gd name="connsiteX1" fmla="*/ 0 w 1687521"/>
              <a:gd name="connsiteY1" fmla="*/ 5454085 h 5463677"/>
              <a:gd name="connsiteX2" fmla="*/ 980930 w 1687521"/>
              <a:gd name="connsiteY2" fmla="*/ 0 h 5463677"/>
              <a:gd name="connsiteX3" fmla="*/ 1686663 w 1687521"/>
              <a:gd name="connsiteY3" fmla="*/ 4620 h 5463677"/>
              <a:gd name="connsiteX4" fmla="*/ 1593900 w 1687521"/>
              <a:gd name="connsiteY4" fmla="*/ 5463677 h 5463677"/>
              <a:gd name="connsiteX0" fmla="*/ 1593900 w 1687130"/>
              <a:gd name="connsiteY0" fmla="*/ 5463677 h 5463677"/>
              <a:gd name="connsiteX1" fmla="*/ 0 w 1687130"/>
              <a:gd name="connsiteY1" fmla="*/ 5454085 h 5463677"/>
              <a:gd name="connsiteX2" fmla="*/ 980930 w 1687130"/>
              <a:gd name="connsiteY2" fmla="*/ 0 h 5463677"/>
              <a:gd name="connsiteX3" fmla="*/ 1686663 w 1687130"/>
              <a:gd name="connsiteY3" fmla="*/ 4620 h 5463677"/>
              <a:gd name="connsiteX4" fmla="*/ 1593900 w 1687130"/>
              <a:gd name="connsiteY4" fmla="*/ 5463677 h 546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7130" h="5463677">
                <a:moveTo>
                  <a:pt x="1593900" y="5463677"/>
                </a:moveTo>
                <a:lnTo>
                  <a:pt x="0" y="5454085"/>
                </a:lnTo>
                <a:lnTo>
                  <a:pt x="980930" y="0"/>
                </a:lnTo>
                <a:lnTo>
                  <a:pt x="1686663" y="4620"/>
                </a:lnTo>
                <a:cubicBezTo>
                  <a:pt x="1697742" y="2539787"/>
                  <a:pt x="1507222" y="3468373"/>
                  <a:pt x="1593900" y="5463677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5">
                  <a:alpha val="80285"/>
                </a:schemeClr>
              </a:gs>
              <a:gs pos="42000">
                <a:schemeClr val="accent5">
                  <a:alpha val="0"/>
                </a:scheme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1E60691-918D-6E4F-B5A9-4452709EF7E2}"/>
              </a:ext>
            </a:extLst>
          </p:cNvPr>
          <p:cNvSpPr/>
          <p:nvPr userDrawn="1"/>
        </p:nvSpPr>
        <p:spPr>
          <a:xfrm>
            <a:off x="10173343" y="0"/>
            <a:ext cx="2018657" cy="6870664"/>
          </a:xfrm>
          <a:custGeom>
            <a:avLst/>
            <a:gdLst>
              <a:gd name="connsiteX0" fmla="*/ 2004484 w 2018657"/>
              <a:gd name="connsiteY0" fmla="*/ 0 h 6870664"/>
              <a:gd name="connsiteX1" fmla="*/ 2018657 w 2018657"/>
              <a:gd name="connsiteY1" fmla="*/ 0 h 6870664"/>
              <a:gd name="connsiteX2" fmla="*/ 2018657 w 2018657"/>
              <a:gd name="connsiteY2" fmla="*/ 6870664 h 6870664"/>
              <a:gd name="connsiteX3" fmla="*/ 0 w 2018657"/>
              <a:gd name="connsiteY3" fmla="*/ 6870664 h 6870664"/>
              <a:gd name="connsiteX4" fmla="*/ 155565 w 2018657"/>
              <a:gd name="connsiteY4" fmla="*/ 6774688 h 6870664"/>
              <a:gd name="connsiteX5" fmla="*/ 1980631 w 2018657"/>
              <a:gd name="connsiteY5" fmla="*/ 312225 h 6870664"/>
              <a:gd name="connsiteX6" fmla="*/ 2004484 w 2018657"/>
              <a:gd name="connsiteY6" fmla="*/ 0 h 68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657" h="6870664">
                <a:moveTo>
                  <a:pt x="2004484" y="0"/>
                </a:moveTo>
                <a:lnTo>
                  <a:pt x="2018657" y="0"/>
                </a:lnTo>
                <a:lnTo>
                  <a:pt x="2018657" y="6870664"/>
                </a:lnTo>
                <a:lnTo>
                  <a:pt x="0" y="6870664"/>
                </a:lnTo>
                <a:lnTo>
                  <a:pt x="155565" y="6774688"/>
                </a:lnTo>
                <a:cubicBezTo>
                  <a:pt x="1007953" y="6069582"/>
                  <a:pt x="1699475" y="3579231"/>
                  <a:pt x="1980631" y="312225"/>
                </a:cubicBezTo>
                <a:lnTo>
                  <a:pt x="20044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" name="Picture 8" descr="NOAA Fisheries logo">
            <a:extLst>
              <a:ext uri="{FF2B5EF4-FFF2-40B4-BE49-F238E27FC236}">
                <a16:creationId xmlns:a16="http://schemas.microsoft.com/office/drawing/2014/main" id="{3995E6BB-EE3F-8B40-B2D8-AEF3949864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3733" y="6139452"/>
            <a:ext cx="1404945" cy="64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928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image divid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BF7DC00C-424C-3A43-8BAB-CBE7A5E78DF9}"/>
              </a:ext>
            </a:extLst>
          </p:cNvPr>
          <p:cNvSpPr/>
          <p:nvPr userDrawn="1"/>
        </p:nvSpPr>
        <p:spPr>
          <a:xfrm rot="10800000">
            <a:off x="9" y="0"/>
            <a:ext cx="2238703" cy="6878155"/>
          </a:xfrm>
          <a:custGeom>
            <a:avLst/>
            <a:gdLst>
              <a:gd name="connsiteX0" fmla="*/ 2132070 w 2228193"/>
              <a:gd name="connsiteY0" fmla="*/ 0 h 6845864"/>
              <a:gd name="connsiteX1" fmla="*/ 2228193 w 2228193"/>
              <a:gd name="connsiteY1" fmla="*/ 0 h 6845864"/>
              <a:gd name="connsiteX2" fmla="*/ 2228193 w 2228193"/>
              <a:gd name="connsiteY2" fmla="*/ 6845864 h 6845864"/>
              <a:gd name="connsiteX3" fmla="*/ 0 w 2228193"/>
              <a:gd name="connsiteY3" fmla="*/ 6845864 h 6845864"/>
              <a:gd name="connsiteX4" fmla="*/ 163139 w 2228193"/>
              <a:gd name="connsiteY4" fmla="*/ 6755280 h 6845864"/>
              <a:gd name="connsiteX5" fmla="*/ 2130212 w 2228193"/>
              <a:gd name="connsiteY5" fmla="*/ 29715 h 6845864"/>
              <a:gd name="connsiteX6" fmla="*/ 2132070 w 2228193"/>
              <a:gd name="connsiteY6" fmla="*/ 0 h 684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193" h="6845864">
                <a:moveTo>
                  <a:pt x="2132070" y="0"/>
                </a:moveTo>
                <a:lnTo>
                  <a:pt x="2228193" y="0"/>
                </a:lnTo>
                <a:lnTo>
                  <a:pt x="2228193" y="6845864"/>
                </a:lnTo>
                <a:lnTo>
                  <a:pt x="0" y="6845864"/>
                </a:lnTo>
                <a:lnTo>
                  <a:pt x="163139" y="6755280"/>
                </a:lnTo>
                <a:cubicBezTo>
                  <a:pt x="1116618" y="6045423"/>
                  <a:pt x="1878156" y="3418473"/>
                  <a:pt x="2130212" y="29715"/>
                </a:cubicBezTo>
                <a:lnTo>
                  <a:pt x="2132070" y="0"/>
                </a:lnTo>
                <a:close/>
              </a:path>
            </a:pathLst>
          </a:custGeom>
          <a:solidFill>
            <a:srgbClr val="003155"/>
          </a:soli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691825-53C1-9F41-80DA-101D3F1D6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619" y="907060"/>
            <a:ext cx="9418320" cy="78483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85000"/>
              </a:lnSpc>
              <a:defRPr sz="6000" b="0" i="0" baseline="0">
                <a:solidFill>
                  <a:schemeClr val="bg1"/>
                </a:solidFill>
                <a:latin typeface="Cambria" charset="0"/>
                <a:ea typeface="Cambria" charset="0"/>
                <a:cs typeface="Cambri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33DECC7-A736-F344-92E7-A3D1115073D9}"/>
              </a:ext>
            </a:extLst>
          </p:cNvPr>
          <p:cNvSpPr/>
          <p:nvPr userDrawn="1"/>
        </p:nvSpPr>
        <p:spPr>
          <a:xfrm rot="10800000" flipH="1" flipV="1">
            <a:off x="9436274" y="-1"/>
            <a:ext cx="2733012" cy="6858001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8461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84619 w 1696743"/>
              <a:gd name="connsiteY4" fmla="*/ 5463677 h 5463677"/>
              <a:gd name="connsiteX0" fmla="*/ 1684619 w 1684980"/>
              <a:gd name="connsiteY0" fmla="*/ 5463677 h 5463677"/>
              <a:gd name="connsiteX1" fmla="*/ 0 w 1684980"/>
              <a:gd name="connsiteY1" fmla="*/ 5454085 h 5463677"/>
              <a:gd name="connsiteX2" fmla="*/ 980930 w 1684980"/>
              <a:gd name="connsiteY2" fmla="*/ 0 h 5463677"/>
              <a:gd name="connsiteX3" fmla="*/ 1661463 w 1684980"/>
              <a:gd name="connsiteY3" fmla="*/ 4620 h 5463677"/>
              <a:gd name="connsiteX4" fmla="*/ 1684619 w 1684980"/>
              <a:gd name="connsiteY4" fmla="*/ 5463677 h 5463677"/>
              <a:gd name="connsiteX0" fmla="*/ 1684619 w 1685254"/>
              <a:gd name="connsiteY0" fmla="*/ 5463677 h 5463677"/>
              <a:gd name="connsiteX1" fmla="*/ 0 w 1685254"/>
              <a:gd name="connsiteY1" fmla="*/ 5454085 h 5463677"/>
              <a:gd name="connsiteX2" fmla="*/ 980930 w 1685254"/>
              <a:gd name="connsiteY2" fmla="*/ 0 h 5463677"/>
              <a:gd name="connsiteX3" fmla="*/ 1661463 w 1685254"/>
              <a:gd name="connsiteY3" fmla="*/ 4620 h 5463677"/>
              <a:gd name="connsiteX4" fmla="*/ 1684619 w 1685254"/>
              <a:gd name="connsiteY4" fmla="*/ 5463677 h 5463677"/>
              <a:gd name="connsiteX0" fmla="*/ 1684619 w 1691967"/>
              <a:gd name="connsiteY0" fmla="*/ 5463677 h 5463677"/>
              <a:gd name="connsiteX1" fmla="*/ 0 w 1691967"/>
              <a:gd name="connsiteY1" fmla="*/ 5454085 h 5463677"/>
              <a:gd name="connsiteX2" fmla="*/ 980930 w 1691967"/>
              <a:gd name="connsiteY2" fmla="*/ 0 h 5463677"/>
              <a:gd name="connsiteX3" fmla="*/ 1686663 w 1691967"/>
              <a:gd name="connsiteY3" fmla="*/ 4620 h 5463677"/>
              <a:gd name="connsiteX4" fmla="*/ 1684619 w 1691967"/>
              <a:gd name="connsiteY4" fmla="*/ 5463677 h 5463677"/>
              <a:gd name="connsiteX0" fmla="*/ 1593900 w 1687521"/>
              <a:gd name="connsiteY0" fmla="*/ 5463677 h 5463677"/>
              <a:gd name="connsiteX1" fmla="*/ 0 w 1687521"/>
              <a:gd name="connsiteY1" fmla="*/ 5454085 h 5463677"/>
              <a:gd name="connsiteX2" fmla="*/ 980930 w 1687521"/>
              <a:gd name="connsiteY2" fmla="*/ 0 h 5463677"/>
              <a:gd name="connsiteX3" fmla="*/ 1686663 w 1687521"/>
              <a:gd name="connsiteY3" fmla="*/ 4620 h 5463677"/>
              <a:gd name="connsiteX4" fmla="*/ 1593900 w 1687521"/>
              <a:gd name="connsiteY4" fmla="*/ 5463677 h 5463677"/>
              <a:gd name="connsiteX0" fmla="*/ 1593900 w 1687130"/>
              <a:gd name="connsiteY0" fmla="*/ 5463677 h 5463677"/>
              <a:gd name="connsiteX1" fmla="*/ 0 w 1687130"/>
              <a:gd name="connsiteY1" fmla="*/ 5454085 h 5463677"/>
              <a:gd name="connsiteX2" fmla="*/ 980930 w 1687130"/>
              <a:gd name="connsiteY2" fmla="*/ 0 h 5463677"/>
              <a:gd name="connsiteX3" fmla="*/ 1686663 w 1687130"/>
              <a:gd name="connsiteY3" fmla="*/ 4620 h 5463677"/>
              <a:gd name="connsiteX4" fmla="*/ 1593900 w 1687130"/>
              <a:gd name="connsiteY4" fmla="*/ 5463677 h 546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7130" h="5463677">
                <a:moveTo>
                  <a:pt x="1593900" y="5463677"/>
                </a:moveTo>
                <a:lnTo>
                  <a:pt x="0" y="5454085"/>
                </a:lnTo>
                <a:lnTo>
                  <a:pt x="980930" y="0"/>
                </a:lnTo>
                <a:lnTo>
                  <a:pt x="1686663" y="4620"/>
                </a:lnTo>
                <a:cubicBezTo>
                  <a:pt x="1697742" y="2539787"/>
                  <a:pt x="1507222" y="3468373"/>
                  <a:pt x="1593900" y="5463677"/>
                </a:cubicBezTo>
                <a:close/>
              </a:path>
            </a:pathLst>
          </a:custGeom>
          <a:gradFill flip="none" rotWithShape="1">
            <a:gsLst>
              <a:gs pos="100000">
                <a:srgbClr val="07477D">
                  <a:alpha val="34000"/>
                </a:srgbClr>
              </a:gs>
              <a:gs pos="42000">
                <a:srgbClr val="07477D">
                  <a:alpha val="0"/>
                </a:srgb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E7B4E725-AE55-CB45-A407-4E3E796A0DA2}"/>
              </a:ext>
            </a:extLst>
          </p:cNvPr>
          <p:cNvSpPr/>
          <p:nvPr userDrawn="1"/>
        </p:nvSpPr>
        <p:spPr>
          <a:xfrm>
            <a:off x="10173343" y="0"/>
            <a:ext cx="2018657" cy="6870664"/>
          </a:xfrm>
          <a:custGeom>
            <a:avLst/>
            <a:gdLst>
              <a:gd name="connsiteX0" fmla="*/ 2004484 w 2018657"/>
              <a:gd name="connsiteY0" fmla="*/ 0 h 6870664"/>
              <a:gd name="connsiteX1" fmla="*/ 2018657 w 2018657"/>
              <a:gd name="connsiteY1" fmla="*/ 0 h 6870664"/>
              <a:gd name="connsiteX2" fmla="*/ 2018657 w 2018657"/>
              <a:gd name="connsiteY2" fmla="*/ 6870664 h 6870664"/>
              <a:gd name="connsiteX3" fmla="*/ 0 w 2018657"/>
              <a:gd name="connsiteY3" fmla="*/ 6870664 h 6870664"/>
              <a:gd name="connsiteX4" fmla="*/ 155565 w 2018657"/>
              <a:gd name="connsiteY4" fmla="*/ 6774688 h 6870664"/>
              <a:gd name="connsiteX5" fmla="*/ 1980631 w 2018657"/>
              <a:gd name="connsiteY5" fmla="*/ 312225 h 6870664"/>
              <a:gd name="connsiteX6" fmla="*/ 2004484 w 2018657"/>
              <a:gd name="connsiteY6" fmla="*/ 0 h 68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657" h="6870664">
                <a:moveTo>
                  <a:pt x="2004484" y="0"/>
                </a:moveTo>
                <a:lnTo>
                  <a:pt x="2018657" y="0"/>
                </a:lnTo>
                <a:lnTo>
                  <a:pt x="2018657" y="6870664"/>
                </a:lnTo>
                <a:lnTo>
                  <a:pt x="0" y="6870664"/>
                </a:lnTo>
                <a:lnTo>
                  <a:pt x="155565" y="6774688"/>
                </a:lnTo>
                <a:cubicBezTo>
                  <a:pt x="1007953" y="6069582"/>
                  <a:pt x="1699475" y="3579231"/>
                  <a:pt x="1980631" y="312225"/>
                </a:cubicBezTo>
                <a:lnTo>
                  <a:pt x="20044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" name="Picture 9" descr="NOAA Fisheries logo">
            <a:extLst>
              <a:ext uri="{FF2B5EF4-FFF2-40B4-BE49-F238E27FC236}">
                <a16:creationId xmlns:a16="http://schemas.microsoft.com/office/drawing/2014/main" id="{B156E172-9868-D745-9DB8-259DFE011D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3733" y="6139452"/>
            <a:ext cx="1404945" cy="64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51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3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2BA96B6A-148E-3046-BEE0-D9CC1BD533D0}"/>
              </a:ext>
            </a:extLst>
          </p:cNvPr>
          <p:cNvSpPr/>
          <p:nvPr/>
        </p:nvSpPr>
        <p:spPr>
          <a:xfrm>
            <a:off x="512171" y="-1"/>
            <a:ext cx="8631829" cy="3060077"/>
          </a:xfrm>
          <a:custGeom>
            <a:avLst/>
            <a:gdLst>
              <a:gd name="connsiteX0" fmla="*/ 0 w 9570645"/>
              <a:gd name="connsiteY0" fmla="*/ 0 h 3392897"/>
              <a:gd name="connsiteX1" fmla="*/ 9570645 w 9570645"/>
              <a:gd name="connsiteY1" fmla="*/ 0 h 3392897"/>
              <a:gd name="connsiteX2" fmla="*/ 8706778 w 9570645"/>
              <a:gd name="connsiteY2" fmla="*/ 83074 h 3392897"/>
              <a:gd name="connsiteX3" fmla="*/ 127415 w 9570645"/>
              <a:gd name="connsiteY3" fmla="*/ 3132932 h 3392897"/>
              <a:gd name="connsiteX4" fmla="*/ 0 w 9570645"/>
              <a:gd name="connsiteY4" fmla="*/ 3392897 h 3392897"/>
              <a:gd name="connsiteX5" fmla="*/ 0 w 9570645"/>
              <a:gd name="connsiteY5" fmla="*/ 0 h 3392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70645" h="3392897">
                <a:moveTo>
                  <a:pt x="0" y="0"/>
                </a:moveTo>
                <a:lnTo>
                  <a:pt x="9570645" y="0"/>
                </a:lnTo>
                <a:lnTo>
                  <a:pt x="8706778" y="83074"/>
                </a:lnTo>
                <a:cubicBezTo>
                  <a:pt x="4369604" y="552913"/>
                  <a:pt x="1063492" y="1708511"/>
                  <a:pt x="127415" y="3132932"/>
                </a:cubicBezTo>
                <a:lnTo>
                  <a:pt x="0" y="339289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 rot="10800000">
            <a:off x="9" y="-1"/>
            <a:ext cx="2087936" cy="6878155"/>
          </a:xfrm>
          <a:custGeom>
            <a:avLst/>
            <a:gdLst>
              <a:gd name="connsiteX0" fmla="*/ 2132070 w 2228193"/>
              <a:gd name="connsiteY0" fmla="*/ 0 h 6845864"/>
              <a:gd name="connsiteX1" fmla="*/ 2228193 w 2228193"/>
              <a:gd name="connsiteY1" fmla="*/ 0 h 6845864"/>
              <a:gd name="connsiteX2" fmla="*/ 2228193 w 2228193"/>
              <a:gd name="connsiteY2" fmla="*/ 6845864 h 6845864"/>
              <a:gd name="connsiteX3" fmla="*/ 0 w 2228193"/>
              <a:gd name="connsiteY3" fmla="*/ 6845864 h 6845864"/>
              <a:gd name="connsiteX4" fmla="*/ 163139 w 2228193"/>
              <a:gd name="connsiteY4" fmla="*/ 6755280 h 6845864"/>
              <a:gd name="connsiteX5" fmla="*/ 2130212 w 2228193"/>
              <a:gd name="connsiteY5" fmla="*/ 29715 h 6845864"/>
              <a:gd name="connsiteX6" fmla="*/ 2132070 w 2228193"/>
              <a:gd name="connsiteY6" fmla="*/ 0 h 684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193" h="6845864">
                <a:moveTo>
                  <a:pt x="2132070" y="0"/>
                </a:moveTo>
                <a:lnTo>
                  <a:pt x="2228193" y="0"/>
                </a:lnTo>
                <a:lnTo>
                  <a:pt x="2228193" y="6845864"/>
                </a:lnTo>
                <a:lnTo>
                  <a:pt x="0" y="6845864"/>
                </a:lnTo>
                <a:lnTo>
                  <a:pt x="163139" y="6755280"/>
                </a:lnTo>
                <a:cubicBezTo>
                  <a:pt x="1116618" y="6045423"/>
                  <a:pt x="1878156" y="3418473"/>
                  <a:pt x="2130212" y="29715"/>
                </a:cubicBezTo>
                <a:lnTo>
                  <a:pt x="2132070" y="0"/>
                </a:lnTo>
                <a:close/>
              </a:path>
            </a:pathLst>
          </a:custGeom>
          <a:solidFill>
            <a:srgbClr val="00467F"/>
          </a:soli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6815" y="1957005"/>
            <a:ext cx="9715456" cy="216674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3F5BF5-9188-DA40-AC0F-D6C1035299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111" y="268116"/>
            <a:ext cx="2214881" cy="99742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7A9E5-1945-C048-B92E-331D211B2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6815" y="4691255"/>
            <a:ext cx="9715456" cy="1898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298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390" rtl="0" eaLnBrk="1" latinLnBrk="0" hangingPunct="1">
        <a:lnSpc>
          <a:spcPct val="80000"/>
        </a:lnSpc>
        <a:spcBef>
          <a:spcPct val="0"/>
        </a:spcBef>
        <a:buNone/>
        <a:defRPr sz="8800" kern="1200">
          <a:solidFill>
            <a:schemeClr val="accent1">
              <a:lumMod val="20000"/>
              <a:lumOff val="80000"/>
            </a:schemeClr>
          </a:solidFill>
          <a:latin typeface="Cambria" charset="0"/>
          <a:ea typeface="Cambria" charset="0"/>
          <a:cs typeface="Cambria" charset="0"/>
        </a:defRPr>
      </a:lvl1pPr>
    </p:titleStyle>
    <p:bodyStyle>
      <a:lvl1pPr marL="0" indent="0" algn="l" defTabSz="914390" rtl="0" eaLnBrk="1" latinLnBrk="0" hangingPunct="1">
        <a:lnSpc>
          <a:spcPct val="90000"/>
        </a:lnSpc>
        <a:spcBef>
          <a:spcPts val="1000"/>
        </a:spcBef>
        <a:buFont typeface="Arial"/>
        <a:buNone/>
        <a:defRPr sz="3600" b="0" i="0" kern="1200">
          <a:solidFill>
            <a:schemeClr val="tx2"/>
          </a:solidFill>
          <a:latin typeface="Cambria" charset="0"/>
          <a:ea typeface="Cambria" charset="0"/>
          <a:cs typeface="Cambria" charset="0"/>
        </a:defRPr>
      </a:lvl1pPr>
      <a:lvl2pPr marL="457195" indent="0" algn="l" defTabSz="914390" rtl="0" eaLnBrk="1" latinLnBrk="0" hangingPunct="1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8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4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5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0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5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2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8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4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59E3C3-9F0E-5B47-9459-02ACBFB016EB}"/>
              </a:ext>
            </a:extLst>
          </p:cNvPr>
          <p:cNvSpPr/>
          <p:nvPr/>
        </p:nvSpPr>
        <p:spPr>
          <a:xfrm>
            <a:off x="0" y="6319157"/>
            <a:ext cx="12184857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3F2E07-4019-8344-849F-ACFB3A596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90701"/>
            <a:ext cx="10515599" cy="426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505F17E-5F7C-6F40-B444-12740BC4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88" y="365760"/>
            <a:ext cx="11083212" cy="132588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3421A90-9F60-7045-9D4A-778FD5C96F81}"/>
              </a:ext>
            </a:extLst>
          </p:cNvPr>
          <p:cNvSpPr/>
          <p:nvPr/>
        </p:nvSpPr>
        <p:spPr>
          <a:xfrm rot="5400000" flipV="1">
            <a:off x="8649666" y="3333640"/>
            <a:ext cx="1980742" cy="5106417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 flip="none" rotWithShape="1">
            <a:gsLst>
              <a:gs pos="99000">
                <a:schemeClr val="bg2">
                  <a:lumMod val="75000"/>
                  <a:alpha val="8785"/>
                </a:schemeClr>
              </a:gs>
              <a:gs pos="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62F5B7D-11BD-3745-8F7E-E461D9D76D57}"/>
              </a:ext>
            </a:extLst>
          </p:cNvPr>
          <p:cNvSpPr/>
          <p:nvPr/>
        </p:nvSpPr>
        <p:spPr>
          <a:xfrm rot="16200000" flipH="1">
            <a:off x="9943737" y="4625267"/>
            <a:ext cx="1453703" cy="3045315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NOAA Fisheries logo">
            <a:extLst>
              <a:ext uri="{FF2B5EF4-FFF2-40B4-BE49-F238E27FC236}">
                <a16:creationId xmlns:a16="http://schemas.microsoft.com/office/drawing/2014/main" id="{686E701C-1EE3-3D4A-BA66-27FF8E1CF7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2421" y="6156230"/>
            <a:ext cx="1404945" cy="64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105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81" r:id="rId3"/>
    <p:sldLayoutId id="2147483682" r:id="rId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  <p:txStyles>
    <p:titleStyle>
      <a:lvl1pPr algn="l" defTabSz="91439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rgbClr val="008998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182878" indent="-182878" algn="l" defTabSz="91439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3120" kern="1200" spc="11" baseline="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457195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731513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005830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280147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1599984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82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978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76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8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4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3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27561487-884E-A44E-9CF5-2ED6ECFC1A98}"/>
              </a:ext>
            </a:extLst>
          </p:cNvPr>
          <p:cNvSpPr/>
          <p:nvPr/>
        </p:nvSpPr>
        <p:spPr>
          <a:xfrm>
            <a:off x="-7683" y="394486"/>
            <a:ext cx="3318615" cy="6471192"/>
          </a:xfrm>
          <a:custGeom>
            <a:avLst/>
            <a:gdLst>
              <a:gd name="connsiteX0" fmla="*/ 3318615 w 3318615"/>
              <a:gd name="connsiteY0" fmla="*/ 0 h 6471192"/>
              <a:gd name="connsiteX1" fmla="*/ 3161544 w 3318615"/>
              <a:gd name="connsiteY1" fmla="*/ 87215 h 6471192"/>
              <a:gd name="connsiteX2" fmla="*/ 1318822 w 3318615"/>
              <a:gd name="connsiteY2" fmla="*/ 6118070 h 6471192"/>
              <a:gd name="connsiteX3" fmla="*/ 1288937 w 3318615"/>
              <a:gd name="connsiteY3" fmla="*/ 6471192 h 6471192"/>
              <a:gd name="connsiteX4" fmla="*/ 0 w 3318615"/>
              <a:gd name="connsiteY4" fmla="*/ 6471192 h 6471192"/>
              <a:gd name="connsiteX5" fmla="*/ 0 w 3318615"/>
              <a:gd name="connsiteY5" fmla="*/ 1 h 6471192"/>
              <a:gd name="connsiteX6" fmla="*/ 1257324 w 3318615"/>
              <a:gd name="connsiteY6" fmla="*/ 1 h 6471192"/>
              <a:gd name="connsiteX7" fmla="*/ 3318615 w 3318615"/>
              <a:gd name="connsiteY7" fmla="*/ 0 h 647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18615" h="6471192">
                <a:moveTo>
                  <a:pt x="3318615" y="0"/>
                </a:moveTo>
                <a:lnTo>
                  <a:pt x="3161544" y="87215"/>
                </a:lnTo>
                <a:cubicBezTo>
                  <a:pt x="2300910" y="727950"/>
                  <a:pt x="1602700" y="3131720"/>
                  <a:pt x="1318822" y="6118070"/>
                </a:cubicBezTo>
                <a:lnTo>
                  <a:pt x="1288937" y="6471192"/>
                </a:lnTo>
                <a:lnTo>
                  <a:pt x="0" y="6471192"/>
                </a:lnTo>
                <a:lnTo>
                  <a:pt x="0" y="1"/>
                </a:lnTo>
                <a:lnTo>
                  <a:pt x="1257324" y="1"/>
                </a:lnTo>
                <a:cubicBezTo>
                  <a:pt x="1944421" y="786"/>
                  <a:pt x="2631518" y="1571"/>
                  <a:pt x="3318615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32000"/>
                </a:schemeClr>
              </a:gs>
              <a:gs pos="42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6360" y="1502229"/>
            <a:ext cx="9003627" cy="215378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6360" y="4038310"/>
            <a:ext cx="9003627" cy="9428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reeform 12"/>
          <p:cNvSpPr/>
          <p:nvPr/>
        </p:nvSpPr>
        <p:spPr>
          <a:xfrm>
            <a:off x="-12698" y="5"/>
            <a:ext cx="6527799" cy="2039519"/>
          </a:xfrm>
          <a:custGeom>
            <a:avLst/>
            <a:gdLst>
              <a:gd name="connsiteX0" fmla="*/ 0 w 6504497"/>
              <a:gd name="connsiteY0" fmla="*/ 0 h 2032239"/>
              <a:gd name="connsiteX1" fmla="*/ 6504497 w 6504497"/>
              <a:gd name="connsiteY1" fmla="*/ 0 h 2032239"/>
              <a:gd name="connsiteX2" fmla="*/ 6504497 w 6504497"/>
              <a:gd name="connsiteY2" fmla="*/ 6484 h 2032239"/>
              <a:gd name="connsiteX3" fmla="*/ 6476264 w 6504497"/>
              <a:gd name="connsiteY3" fmla="*/ 8249 h 2032239"/>
              <a:gd name="connsiteX4" fmla="*/ 86067 w 6504497"/>
              <a:gd name="connsiteY4" fmla="*/ 1877235 h 2032239"/>
              <a:gd name="connsiteX5" fmla="*/ 0 w 6504497"/>
              <a:gd name="connsiteY5" fmla="*/ 2032239 h 2032239"/>
              <a:gd name="connsiteX6" fmla="*/ 0 w 6504497"/>
              <a:gd name="connsiteY6" fmla="*/ 0 h 2032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497" h="2032239">
                <a:moveTo>
                  <a:pt x="0" y="0"/>
                </a:moveTo>
                <a:lnTo>
                  <a:pt x="6504497" y="0"/>
                </a:lnTo>
                <a:lnTo>
                  <a:pt x="6504497" y="6484"/>
                </a:lnTo>
                <a:lnTo>
                  <a:pt x="6476264" y="8249"/>
                </a:lnTo>
                <a:cubicBezTo>
                  <a:pt x="3256485" y="247737"/>
                  <a:pt x="760527" y="971301"/>
                  <a:pt x="86067" y="1877235"/>
                </a:cubicBezTo>
                <a:lnTo>
                  <a:pt x="0" y="2032239"/>
                </a:lnTo>
                <a:lnTo>
                  <a:pt x="0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013" y="758265"/>
            <a:ext cx="1119514" cy="155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98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83" r:id="rId4"/>
    <p:sldLayoutId id="2147483684" r:id="rId5"/>
  </p:sldLayoutIdLst>
  <p:txStyles>
    <p:titleStyle>
      <a:lvl1pPr algn="l" defTabSz="914390" rtl="0" eaLnBrk="1" latinLnBrk="0" hangingPunct="1">
        <a:lnSpc>
          <a:spcPct val="80000"/>
        </a:lnSpc>
        <a:spcBef>
          <a:spcPct val="0"/>
        </a:spcBef>
        <a:buNone/>
        <a:defRPr sz="8800" kern="1200">
          <a:solidFill>
            <a:schemeClr val="accent1">
              <a:lumMod val="20000"/>
              <a:lumOff val="80000"/>
            </a:schemeClr>
          </a:solidFill>
          <a:latin typeface="Cambria" charset="0"/>
          <a:ea typeface="Cambria" charset="0"/>
          <a:cs typeface="Cambria" charset="0"/>
        </a:defRPr>
      </a:lvl1pPr>
    </p:titleStyle>
    <p:bodyStyle>
      <a:lvl1pPr marL="0" indent="0" algn="l" defTabSz="914390" rtl="0" eaLnBrk="1" latinLnBrk="0" hangingPunct="1">
        <a:lnSpc>
          <a:spcPct val="90000"/>
        </a:lnSpc>
        <a:spcBef>
          <a:spcPts val="1000"/>
        </a:spcBef>
        <a:buFont typeface="Arial"/>
        <a:buNone/>
        <a:defRPr sz="3600" b="0" i="0" kern="1200">
          <a:solidFill>
            <a:schemeClr val="tx2"/>
          </a:solidFill>
          <a:latin typeface="Cambria" charset="0"/>
          <a:ea typeface="Cambria" charset="0"/>
          <a:cs typeface="Cambria" charset="0"/>
        </a:defRPr>
      </a:lvl1pPr>
      <a:lvl2pPr marL="685793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8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4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5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0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5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2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8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4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3F2E07-4019-8344-849F-ACFB3A596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90701"/>
            <a:ext cx="9221907" cy="426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505F17E-5F7C-6F40-B444-12740BC4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88" y="365760"/>
            <a:ext cx="11083212" cy="132588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1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  <p:txStyles>
    <p:titleStyle>
      <a:lvl1pPr algn="l" defTabSz="91439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rgbClr val="008998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182878" indent="-182878" algn="l" defTabSz="91439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3120" kern="1200" spc="11" baseline="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457195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731513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005830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280147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1599984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82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978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76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8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4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3F2E07-4019-8344-849F-ACFB3A596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90701"/>
            <a:ext cx="9221907" cy="426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505F17E-5F7C-6F40-B444-12740BC4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88" y="365760"/>
            <a:ext cx="11083212" cy="132588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8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  <p:txStyles>
    <p:titleStyle>
      <a:lvl1pPr algn="l" defTabSz="91439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rgbClr val="008998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182878" indent="-182878" algn="l" defTabSz="91439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3120" kern="1200" spc="11" baseline="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457195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731513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005830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280147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1599984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82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978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76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8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4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hoto of a Blue King Crab">
            <a:extLst>
              <a:ext uri="{FF2B5EF4-FFF2-40B4-BE49-F238E27FC236}">
                <a16:creationId xmlns:a16="http://schemas.microsoft.com/office/drawing/2014/main" id="{C558A2D8-3F28-6BE1-5B96-393FCCB3D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270" y="-16935"/>
            <a:ext cx="10668000" cy="6874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E04694-DFDB-C34E-BDE9-7071323B6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270" y="1831581"/>
            <a:ext cx="9144000" cy="1217425"/>
          </a:xfrm>
        </p:spPr>
        <p:txBody>
          <a:bodyPr>
            <a:noAutofit/>
          </a:bodyPr>
          <a:lstStyle/>
          <a:p>
            <a:r>
              <a:rPr lang="en-US" sz="4000" dirty="0"/>
              <a:t>2025-05 Pribilof Islands Blue King Crab </a:t>
            </a:r>
            <a:br>
              <a:rPr lang="en-US" sz="4000" dirty="0"/>
            </a:br>
            <a:r>
              <a:rPr lang="en-US" sz="4000" dirty="0"/>
              <a:t>Report TO CPT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B8CEB-00BD-7546-B5B4-494EB9D78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7703"/>
            <a:ext cx="9144000" cy="1655762"/>
          </a:xfrm>
        </p:spPr>
        <p:txBody>
          <a:bodyPr/>
          <a:lstStyle/>
          <a:p>
            <a:r>
              <a:rPr lang="en-US" dirty="0"/>
              <a:t>William Stockhausen</a:t>
            </a:r>
          </a:p>
          <a:p>
            <a:r>
              <a:rPr lang="en-US" dirty="0"/>
              <a:t>NOAA/NMFS/AFSC</a:t>
            </a:r>
          </a:p>
          <a:p>
            <a:r>
              <a:rPr lang="en-US" dirty="0"/>
              <a:t>May 14, 2025</a:t>
            </a:r>
          </a:p>
        </p:txBody>
      </p:sp>
    </p:spTree>
    <p:extLst>
      <p:ext uri="{BB962C8B-B14F-4D97-AF65-F5344CB8AC3E}">
        <p14:creationId xmlns:p14="http://schemas.microsoft.com/office/powerpoint/2010/main" val="210617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DC82-B1D2-4442-A271-0EA70E36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424806"/>
            <a:ext cx="5133975" cy="5492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CPT and SSC Comments</a:t>
            </a:r>
            <a:endParaRPr lang="en-US" sz="1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A8CFBC-A21C-A30C-7F88-719F8235FDAD}"/>
              </a:ext>
            </a:extLst>
          </p:cNvPr>
          <p:cNvSpPr txBox="1"/>
          <p:nvPr/>
        </p:nvSpPr>
        <p:spPr>
          <a:xfrm>
            <a:off x="1483570" y="2228671"/>
            <a:ext cx="92248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SSC looks forward to the report on the blue king crab stock structure template in the near future.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/>
              <a:t>response: staff capacity has not permitted progress on this request.</a:t>
            </a:r>
          </a:p>
        </p:txBody>
      </p:sp>
    </p:spTree>
    <p:extLst>
      <p:ext uri="{BB962C8B-B14F-4D97-AF65-F5344CB8AC3E}">
        <p14:creationId xmlns:p14="http://schemas.microsoft.com/office/powerpoint/2010/main" val="279472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5902-3261-79EC-62BB-E28E6FEF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B3E8-10FA-CD63-305D-7F71C2137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25" y="425759"/>
            <a:ext cx="5133975" cy="5492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Topics</a:t>
            </a: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A14C3-1089-15E5-B453-34D5F0410D73}"/>
              </a:ext>
            </a:extLst>
          </p:cNvPr>
          <p:cNvSpPr txBox="1"/>
          <p:nvPr/>
        </p:nvSpPr>
        <p:spPr>
          <a:xfrm>
            <a:off x="2808829" y="1776537"/>
            <a:ext cx="6339812" cy="1964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crabpack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comparisons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loss of “corner” stations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dealing with survey MMB time series 0’s</a:t>
            </a:r>
          </a:p>
        </p:txBody>
      </p:sp>
    </p:spTree>
    <p:extLst>
      <p:ext uri="{BB962C8B-B14F-4D97-AF65-F5344CB8AC3E}">
        <p14:creationId xmlns:p14="http://schemas.microsoft.com/office/powerpoint/2010/main" val="158441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4361C-738F-27C6-4833-8F9FEFB0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14A19-B97B-15F5-94A0-98693C26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424806"/>
            <a:ext cx="5133975" cy="549275"/>
          </a:xfrm>
        </p:spPr>
        <p:txBody>
          <a:bodyPr>
            <a:normAutofit fontScale="90000"/>
          </a:bodyPr>
          <a:lstStyle/>
          <a:p>
            <a:r>
              <a:rPr lang="en-US" sz="2800" b="1" dirty="0" err="1">
                <a:solidFill>
                  <a:prstClr val="black"/>
                </a:solidFill>
              </a:rPr>
              <a:t>crabpack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br>
              <a:rPr lang="en-US" sz="2800" b="1" dirty="0">
                <a:solidFill>
                  <a:prstClr val="black"/>
                </a:solidFill>
              </a:rPr>
            </a:br>
            <a:r>
              <a:rPr lang="en-US" sz="2800" b="1" dirty="0">
                <a:solidFill>
                  <a:prstClr val="black"/>
                </a:solidFill>
              </a:rPr>
              <a:t>comparisons</a:t>
            </a:r>
            <a:br>
              <a:rPr lang="en-US" sz="2800" b="1" dirty="0">
                <a:solidFill>
                  <a:prstClr val="black"/>
                </a:solidFill>
              </a:rPr>
            </a:br>
            <a:endParaRPr lang="en-US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EE6663-90D7-8262-6CE5-7F7C83CB6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2" y="424806"/>
            <a:ext cx="8712200" cy="592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2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616F-4601-0DB9-3EC7-C7CF8FBE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2D31-0E04-7634-3C51-664D25BA1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424806"/>
            <a:ext cx="5133975" cy="549275"/>
          </a:xfrm>
        </p:spPr>
        <p:txBody>
          <a:bodyPr>
            <a:normAutofit fontScale="90000"/>
          </a:bodyPr>
          <a:lstStyle/>
          <a:p>
            <a:r>
              <a:rPr lang="en-US" sz="2800" b="1" dirty="0" err="1">
                <a:solidFill>
                  <a:prstClr val="black"/>
                </a:solidFill>
              </a:rPr>
              <a:t>crabpack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br>
              <a:rPr lang="en-US" sz="2800" b="1" dirty="0">
                <a:solidFill>
                  <a:prstClr val="black"/>
                </a:solidFill>
              </a:rPr>
            </a:br>
            <a:r>
              <a:rPr lang="en-US" sz="2800" b="1" dirty="0">
                <a:solidFill>
                  <a:prstClr val="black"/>
                </a:solidFill>
              </a:rPr>
              <a:t>comparisons</a:t>
            </a:r>
            <a:br>
              <a:rPr lang="en-US" sz="2800" b="1" dirty="0">
                <a:solidFill>
                  <a:prstClr val="black"/>
                </a:solidFill>
              </a:rPr>
            </a:br>
            <a:endParaRPr lang="en-US"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1CC15-CB67-B1E6-901C-B67CFE491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43028"/>
            <a:ext cx="7772400" cy="537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1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B979-7E7B-D142-7D85-BE486643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1FDD-D8CE-0000-94A9-B68F6805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424806"/>
            <a:ext cx="5133975" cy="5492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no corner </a:t>
            </a:r>
            <a:br>
              <a:rPr lang="en-US" sz="2800" b="1" dirty="0">
                <a:solidFill>
                  <a:prstClr val="black"/>
                </a:solidFill>
              </a:rPr>
            </a:br>
            <a:r>
              <a:rPr lang="en-US" sz="2800" b="1" dirty="0">
                <a:solidFill>
                  <a:prstClr val="black"/>
                </a:solidFill>
              </a:rPr>
              <a:t>stations</a:t>
            </a: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DDA4C8-5141-7619-50A1-874194198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708150"/>
            <a:ext cx="3283095" cy="2660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C3CF89-1F7B-2CDD-9CB8-58A8F5444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920" y="322370"/>
            <a:ext cx="8497130" cy="593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41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FCB5A-6AEE-AEF2-E31E-D698E509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421E-2695-4FED-AF08-5746EAF3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424806"/>
            <a:ext cx="5133975" cy="5492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no corner </a:t>
            </a:r>
            <a:br>
              <a:rPr lang="en-US" sz="2800" b="1" dirty="0">
                <a:solidFill>
                  <a:prstClr val="black"/>
                </a:solidFill>
              </a:rPr>
            </a:br>
            <a:r>
              <a:rPr lang="en-US" sz="2800" b="1" dirty="0">
                <a:solidFill>
                  <a:prstClr val="black"/>
                </a:solidFill>
              </a:rPr>
              <a:t>stations</a:t>
            </a:r>
            <a:br>
              <a:rPr lang="en-US" sz="2800" b="1" dirty="0">
                <a:solidFill>
                  <a:prstClr val="black"/>
                </a:solidFill>
              </a:rPr>
            </a:b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B8A7CC-E4EF-EC58-D4D0-CBB968B2B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299" y="136894"/>
            <a:ext cx="9418901" cy="658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85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C3D0B-4FA0-5FD4-45A9-AC01C7AE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D8D86-809D-76A0-7774-02725B80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424806"/>
            <a:ext cx="5133975" cy="5492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no corner</a:t>
            </a:r>
            <a:br>
              <a:rPr lang="en-US" sz="2800" b="1" dirty="0">
                <a:solidFill>
                  <a:prstClr val="black"/>
                </a:solidFill>
              </a:rPr>
            </a:br>
            <a:r>
              <a:rPr lang="en-US" sz="2800" b="1" dirty="0">
                <a:solidFill>
                  <a:prstClr val="black"/>
                </a:solidFill>
              </a:rPr>
              <a:t>stations</a:t>
            </a:r>
            <a:br>
              <a:rPr lang="en-US" sz="2800" b="1" dirty="0">
                <a:solidFill>
                  <a:prstClr val="black"/>
                </a:solidFill>
              </a:rPr>
            </a:b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DA283A-3432-B7D7-D86E-C984710F0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0334"/>
            <a:ext cx="9550400" cy="6619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68853B-3437-943C-A2CE-5526E6527008}"/>
              </a:ext>
            </a:extLst>
          </p:cNvPr>
          <p:cNvSpPr txBox="1"/>
          <p:nvPr/>
        </p:nvSpPr>
        <p:spPr>
          <a:xfrm>
            <a:off x="6487107" y="245429"/>
            <a:ext cx="995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MMB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FFBC72-4A4D-C588-B515-B587173E4A74}"/>
              </a:ext>
            </a:extLst>
          </p:cNvPr>
          <p:cNvSpPr/>
          <p:nvPr/>
        </p:nvSpPr>
        <p:spPr>
          <a:xfrm>
            <a:off x="9982201" y="5586761"/>
            <a:ext cx="1994210" cy="1271239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66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DC82-B1D2-4442-A271-0EA70E36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120006"/>
            <a:ext cx="10515600" cy="5492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Tier 4 part of PIBKC Assessment: Determine B</a:t>
            </a:r>
            <a:r>
              <a:rPr lang="en-US" sz="2800" b="1" baseline="-25000" dirty="0">
                <a:solidFill>
                  <a:prstClr val="black"/>
                </a:solidFill>
              </a:rPr>
              <a:t>MSY</a:t>
            </a:r>
            <a:endParaRPr lang="en-US" sz="1800" b="1" baseline="-25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E14737-82E1-544F-80E1-75E2C16C49AF}"/>
              </a:ext>
            </a:extLst>
          </p:cNvPr>
          <p:cNvSpPr/>
          <p:nvPr/>
        </p:nvSpPr>
        <p:spPr>
          <a:xfrm>
            <a:off x="838200" y="672841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04DF37-26FA-0B0A-0DE8-9A3513DEA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940640"/>
            <a:ext cx="4114800" cy="2550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A5454C-88D2-F7CD-99E6-41083D6E0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5" y="3560777"/>
            <a:ext cx="4114800" cy="2437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C86D14-9C70-BDD0-D41E-017BF5EB51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54705" y="1307034"/>
            <a:ext cx="4114800" cy="4368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8DFA53-2372-E4E8-7F86-5832CA771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574" y="2334844"/>
            <a:ext cx="3822426" cy="23129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5D3CD1-8CE7-E441-3CC9-2DEA050E13EB}"/>
              </a:ext>
            </a:extLst>
          </p:cNvPr>
          <p:cNvSpPr txBox="1"/>
          <p:nvPr/>
        </p:nvSpPr>
        <p:spPr>
          <a:xfrm>
            <a:off x="370800" y="5999184"/>
            <a:ext cx="4082464" cy="358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SS/RE RW </a:t>
            </a:r>
            <a:r>
              <a:rPr lang="en-US" dirty="0" err="1"/>
              <a:t>rema</a:t>
            </a:r>
            <a:r>
              <a:rPr lang="en-US" dirty="0"/>
              <a:t> model fit to Survey MMB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BFAD4-6863-ADA3-B6D9-E5AFCB64D6D3}"/>
              </a:ext>
            </a:extLst>
          </p:cNvPr>
          <p:cNvSpPr txBox="1"/>
          <p:nvPr/>
        </p:nvSpPr>
        <p:spPr>
          <a:xfrm>
            <a:off x="4867927" y="5683341"/>
            <a:ext cx="2888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Projected to MMB-at-Mating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D01CDA-D6CB-483D-F621-19150E982F9A}"/>
              </a:ext>
            </a:extLst>
          </p:cNvPr>
          <p:cNvSpPr txBox="1"/>
          <p:nvPr/>
        </p:nvSpPr>
        <p:spPr>
          <a:xfrm>
            <a:off x="9581699" y="4755732"/>
            <a:ext cx="211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Averaged to get B</a:t>
            </a:r>
            <a:r>
              <a:rPr lang="en-US" baseline="-25000" dirty="0"/>
              <a:t>MSY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319A2-C448-4C30-FBCA-50BF0227F17A}"/>
              </a:ext>
            </a:extLst>
          </p:cNvPr>
          <p:cNvSpPr txBox="1"/>
          <p:nvPr/>
        </p:nvSpPr>
        <p:spPr>
          <a:xfrm>
            <a:off x="1773044" y="672841"/>
            <a:ext cx="806824" cy="358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Step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C401C-8441-9D1A-DA15-32EDC7A4C18F}"/>
              </a:ext>
            </a:extLst>
          </p:cNvPr>
          <p:cNvSpPr txBox="1"/>
          <p:nvPr/>
        </p:nvSpPr>
        <p:spPr>
          <a:xfrm>
            <a:off x="5908693" y="940640"/>
            <a:ext cx="806824" cy="358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Step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F7AB4F-7D9D-1020-FE4E-42FBE255F0E6}"/>
              </a:ext>
            </a:extLst>
          </p:cNvPr>
          <p:cNvSpPr txBox="1"/>
          <p:nvPr/>
        </p:nvSpPr>
        <p:spPr>
          <a:xfrm>
            <a:off x="10114157" y="1868249"/>
            <a:ext cx="806824" cy="358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Step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6D0172-EFB4-47D2-20D7-A4A99ED226F0}"/>
              </a:ext>
            </a:extLst>
          </p:cNvPr>
          <p:cNvSpPr txBox="1"/>
          <p:nvPr/>
        </p:nvSpPr>
        <p:spPr>
          <a:xfrm>
            <a:off x="1271019" y="1477323"/>
            <a:ext cx="271696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02"/>
            <a:r>
              <a:rPr lang="en-US" sz="1400" dirty="0"/>
              <a:t>fit model to survey MMB</a:t>
            </a:r>
          </a:p>
          <a:p>
            <a:pPr marL="17602"/>
            <a:r>
              <a:rPr lang="en-US" sz="1400" dirty="0"/>
              <a:t>reduce observation errors</a:t>
            </a:r>
          </a:p>
          <a:p>
            <a:pPr marL="17602"/>
            <a:r>
              <a:rPr lang="en-US" sz="1400" dirty="0"/>
              <a:t>fill in missing surveys (i.e., 2020)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460C8-7A59-AE0B-1F6B-79BB27D833D8}"/>
              </a:ext>
            </a:extLst>
          </p:cNvPr>
          <p:cNvSpPr txBox="1"/>
          <p:nvPr/>
        </p:nvSpPr>
        <p:spPr>
          <a:xfrm>
            <a:off x="5039320" y="1678261"/>
            <a:ext cx="23051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02"/>
            <a:r>
              <a:rPr lang="en-US" sz="1400" dirty="0"/>
              <a:t>project to mating</a:t>
            </a:r>
          </a:p>
          <a:p>
            <a:pPr marL="17602"/>
            <a:r>
              <a:rPr lang="en-US" sz="1400" dirty="0"/>
              <a:t>account for M &amp; F mortality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9FB21C-8DB8-4C79-27E7-CEFE5370400A}"/>
              </a:ext>
            </a:extLst>
          </p:cNvPr>
          <p:cNvSpPr txBox="1"/>
          <p:nvPr/>
        </p:nvSpPr>
        <p:spPr>
          <a:xfrm>
            <a:off x="10875541" y="2509024"/>
            <a:ext cx="1192634" cy="625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Determine</a:t>
            </a:r>
          </a:p>
          <a:p>
            <a:pPr algn="ctr"/>
            <a:r>
              <a:rPr lang="en-US" dirty="0"/>
              <a:t>B</a:t>
            </a:r>
            <a:r>
              <a:rPr lang="en-US" baseline="-25000" dirty="0"/>
              <a:t>MSY</a:t>
            </a:r>
          </a:p>
        </p:txBody>
      </p:sp>
    </p:spTree>
    <p:extLst>
      <p:ext uri="{BB962C8B-B14F-4D97-AF65-F5344CB8AC3E}">
        <p14:creationId xmlns:p14="http://schemas.microsoft.com/office/powerpoint/2010/main" val="1584246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B9AC-B627-C03A-667C-B35A3E429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C763-FA46-1803-9AA6-32721B68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88200" cy="5492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dealing with time series 0’s</a:t>
            </a: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94078-CF9A-D4D8-C0D0-7B11F7106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1" y="2799045"/>
            <a:ext cx="8335231" cy="39541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075B4C-1286-5AAE-868E-4A2C2B27B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104775"/>
            <a:ext cx="5448300" cy="258949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F71E374-158E-2088-1A69-6ADBBD75B1CA}"/>
              </a:ext>
            </a:extLst>
          </p:cNvPr>
          <p:cNvSpPr/>
          <p:nvPr/>
        </p:nvSpPr>
        <p:spPr>
          <a:xfrm>
            <a:off x="11023600" y="2057400"/>
            <a:ext cx="1003300" cy="927100"/>
          </a:xfrm>
          <a:prstGeom prst="ellipse">
            <a:avLst/>
          </a:prstGeom>
          <a:noFill/>
          <a:ln w="508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A7515-F2EB-3575-723C-0EF642D20451}"/>
              </a:ext>
            </a:extLst>
          </p:cNvPr>
          <p:cNvSpPr txBox="1"/>
          <p:nvPr/>
        </p:nvSpPr>
        <p:spPr>
          <a:xfrm>
            <a:off x="209709" y="937858"/>
            <a:ext cx="59105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MMB is basis for Tier 4/5 assessment</a:t>
            </a:r>
          </a:p>
          <a:p>
            <a:pPr marL="725348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NMFS EBS survey provides “raw” data</a:t>
            </a:r>
          </a:p>
          <a:p>
            <a:pPr marL="725348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`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rema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` provides “smoothed” time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recent 0’s are problematic?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D506F-7C55-0393-107C-7444B91A521D}"/>
              </a:ext>
            </a:extLst>
          </p:cNvPr>
          <p:cNvSpPr txBox="1"/>
          <p:nvPr/>
        </p:nvSpPr>
        <p:spPr>
          <a:xfrm>
            <a:off x="9613578" y="3126719"/>
            <a:ext cx="1265090" cy="625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“Hard” 0’s</a:t>
            </a:r>
          </a:p>
          <a:p>
            <a:r>
              <a:rPr lang="en-US" dirty="0">
                <a:solidFill>
                  <a:srgbClr val="FF0000"/>
                </a:solidFill>
              </a:rPr>
              <a:t>2023, 2024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CF2967-A161-DE26-C9C7-398ED606B567}"/>
              </a:ext>
            </a:extLst>
          </p:cNvPr>
          <p:cNvSpPr txBox="1"/>
          <p:nvPr/>
        </p:nvSpPr>
        <p:spPr>
          <a:xfrm>
            <a:off x="8255000" y="274637"/>
            <a:ext cx="1991123" cy="358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NMFS Survey MMB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B18FD2-9C85-E531-3FC9-4F9D3995D0FF}"/>
              </a:ext>
            </a:extLst>
          </p:cNvPr>
          <p:cNvCxnSpPr/>
          <p:nvPr/>
        </p:nvCxnSpPr>
        <p:spPr>
          <a:xfrm>
            <a:off x="11107997" y="1204332"/>
            <a:ext cx="0" cy="36799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D8BC491-8DD4-D391-68E3-D429B2AA6068}"/>
              </a:ext>
            </a:extLst>
          </p:cNvPr>
          <p:cNvSpPr txBox="1"/>
          <p:nvPr/>
        </p:nvSpPr>
        <p:spPr>
          <a:xfrm>
            <a:off x="10761588" y="927333"/>
            <a:ext cx="692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missing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D2A854-BCE2-C6D2-F18F-8E843DBD2813}"/>
              </a:ext>
            </a:extLst>
          </p:cNvPr>
          <p:cNvCxnSpPr>
            <a:endCxn id="5" idx="3"/>
          </p:cNvCxnSpPr>
          <p:nvPr/>
        </p:nvCxnSpPr>
        <p:spPr>
          <a:xfrm flipV="1">
            <a:off x="10761588" y="2848729"/>
            <a:ext cx="408942" cy="36282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85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3C9D0-D884-9314-9F0E-FADD6D2C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71C7-1266-E538-7445-D5BC28CEA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145406"/>
            <a:ext cx="6886575" cy="5492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dealing with time series 0’s: ad hoc approaches</a:t>
            </a: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C37E40-965E-5A9B-CD6D-E43EB0013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889000"/>
            <a:ext cx="5419064" cy="5429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19EC3F-CC47-7255-B001-A6F798D57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105" y="3520998"/>
            <a:ext cx="5787094" cy="2740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4A4061-D5F1-4A23-5671-04C7F6236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6105" y="694680"/>
            <a:ext cx="5787093" cy="273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D169-A729-F66E-BA99-F915BA1E9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B0F59-B487-B575-2E11-994ADF43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327900" cy="5492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dealing with time series 0’s: ad hoc approaches</a:t>
            </a:r>
            <a:br>
              <a:rPr lang="en-US" sz="2800" b="1" dirty="0">
                <a:solidFill>
                  <a:prstClr val="black"/>
                </a:solidFill>
              </a:rPr>
            </a:b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C9A3EE-3E0D-993D-2844-44711417E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6944"/>
            <a:ext cx="5743600" cy="5518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0A8DBD-2BB7-7FE5-C66F-11F14F3C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600" y="927502"/>
            <a:ext cx="5521300" cy="546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75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A0A92-1D92-F18A-486B-6FE51DBD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DBBD-6F28-F668-C981-B15029652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88200" cy="5492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dealing with time series 0’s: ad hoc approaches</a:t>
            </a: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8BCEA4-79C0-A25D-3DF6-93DCE4E1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0" y="782637"/>
            <a:ext cx="5437166" cy="52927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F39649-05F4-5575-65A4-640B8D18F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82637"/>
            <a:ext cx="5468117" cy="529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64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1BBE-D693-890F-43BE-79155159C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16AC-EAC5-6AB8-AEEE-D5751F0EB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88200" cy="5492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dealing with time series 0’s: ad hoc approaches</a:t>
            </a:r>
            <a:endParaRPr lang="en-US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3043F-073B-9971-8BAB-9DFB4BD2C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1" y="723900"/>
            <a:ext cx="5874689" cy="5619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D1A753-BD30-0E0A-D75C-C6E958AFC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23900"/>
            <a:ext cx="5708076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010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51169-E21E-BAC7-35CC-A214E124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68D0-2251-052A-6380-B52107117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88200" cy="5492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dealing with time series 0’s: </a:t>
            </a:r>
            <a:r>
              <a:rPr lang="en-US" sz="2800" b="1" dirty="0" err="1">
                <a:solidFill>
                  <a:prstClr val="black"/>
                </a:solidFill>
              </a:rPr>
              <a:t>sdmTMB</a:t>
            </a:r>
            <a:endParaRPr lang="en-US"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5E4FF8-CF68-DA2A-E4B5-9E794B7DE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1855766"/>
            <a:ext cx="2355850" cy="23781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8CFE59-3F91-381A-EACD-10BDFCA36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903" y="1111250"/>
            <a:ext cx="1511300" cy="1155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E7073A-9AFA-F2F2-76B8-9E30BC28F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800" y="1111250"/>
            <a:ext cx="7010400" cy="1206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8BA2B6-C641-5E7B-92A4-26A1AF19711A}"/>
              </a:ext>
            </a:extLst>
          </p:cNvPr>
          <p:cNvSpPr txBox="1"/>
          <p:nvPr/>
        </p:nvSpPr>
        <p:spPr>
          <a:xfrm>
            <a:off x="4989776" y="549275"/>
            <a:ext cx="3348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ln(CPUE) ~ s(ln(bottom depth))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1B47EE-BB14-04D6-E027-A1D842C15F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76503" y="3044824"/>
            <a:ext cx="3060700" cy="2860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121664-0D7F-2EE9-860B-CEFE02A00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2510393"/>
            <a:ext cx="6102350" cy="416480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55969B7-2C14-03B7-509C-20DAC6C9BFC8}"/>
              </a:ext>
            </a:extLst>
          </p:cNvPr>
          <p:cNvSpPr/>
          <p:nvPr/>
        </p:nvSpPr>
        <p:spPr>
          <a:xfrm>
            <a:off x="10312400" y="1905000"/>
            <a:ext cx="1714500" cy="520700"/>
          </a:xfrm>
          <a:prstGeom prst="ellipse">
            <a:avLst/>
          </a:prstGeom>
          <a:noFill/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CBDEE5-D08A-7FA1-FF6C-883014A3A48D}"/>
              </a:ext>
            </a:extLst>
          </p:cNvPr>
          <p:cNvCxnSpPr>
            <a:stCxn id="10" idx="4"/>
          </p:cNvCxnSpPr>
          <p:nvPr/>
        </p:nvCxnSpPr>
        <p:spPr>
          <a:xfrm flipH="1">
            <a:off x="10795000" y="2425700"/>
            <a:ext cx="374650" cy="4699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6E5968B-91DB-60DF-5BD3-FDB4B05389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300" y="5264150"/>
            <a:ext cx="8890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13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B03C-8A6E-DD5E-A101-0CFA2A59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37A5E-B7DF-1E13-9467-BFBA2C89A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88200" cy="5492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dealing with time series 0’s</a:t>
            </a: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4AEFBB-2527-2A53-FD6E-6C4C0DC5E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542831"/>
            <a:ext cx="8318500" cy="61779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C26F4F-313A-164F-32BC-7FC4B3D45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150" y="5280025"/>
            <a:ext cx="16129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02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C20A-AD15-7438-4CC7-456809C5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A7A5-6EFE-6720-8FCC-0D8AA74B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88200" cy="5492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dealing with time series 0’s</a:t>
            </a:r>
            <a:endParaRPr lang="en-US"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A0B64-6C34-F343-DE9B-9139ED7BE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5280025"/>
            <a:ext cx="1612900" cy="1079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01410A-05D5-89C7-4F4D-3F534CE58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84526"/>
            <a:ext cx="7772400" cy="5688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C7B5D7-7FC4-08EA-CF6D-990D1F239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650" y="4937125"/>
            <a:ext cx="1612900" cy="10795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E68CD2-4F04-95E5-A982-31B90C187EDB}"/>
              </a:ext>
            </a:extLst>
          </p:cNvPr>
          <p:cNvCxnSpPr>
            <a:cxnSpLocks/>
          </p:cNvCxnSpPr>
          <p:nvPr/>
        </p:nvCxnSpPr>
        <p:spPr>
          <a:xfrm flipH="1">
            <a:off x="3695700" y="5819775"/>
            <a:ext cx="939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EF78464-B5AB-2F07-6C9A-475A82160E7E}"/>
              </a:ext>
            </a:extLst>
          </p:cNvPr>
          <p:cNvSpPr txBox="1"/>
          <p:nvPr/>
        </p:nvSpPr>
        <p:spPr>
          <a:xfrm>
            <a:off x="4739068" y="5615031"/>
            <a:ext cx="1037463" cy="358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sdmTMB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821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18EB-36F6-6BD6-B139-05674893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9939-2BA1-21C2-0624-F864E2ECC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170806"/>
            <a:ext cx="5133975" cy="5492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Recommendations</a:t>
            </a:r>
            <a:br>
              <a:rPr lang="en-US" sz="2800" b="1" dirty="0">
                <a:solidFill>
                  <a:prstClr val="black"/>
                </a:solidFill>
              </a:rPr>
            </a:br>
            <a:endParaRPr lang="en-US" sz="1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01560D-C875-9C35-29D2-82580C796213}"/>
              </a:ext>
            </a:extLst>
          </p:cNvPr>
          <p:cNvSpPr txBox="1"/>
          <p:nvPr/>
        </p:nvSpPr>
        <p:spPr>
          <a:xfrm>
            <a:off x="1320799" y="1244600"/>
            <a:ext cx="839161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dealing with 0’s</a:t>
            </a:r>
          </a:p>
          <a:p>
            <a:pPr marL="725348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dirty="0" err="1"/>
              <a:t>sdmTMB</a:t>
            </a:r>
            <a:r>
              <a:rPr lang="en-US" sz="2400" dirty="0"/>
              <a:t> Tweedie AR1 model (</a:t>
            </a:r>
            <a:r>
              <a:rPr lang="en-US" sz="2400" dirty="0" err="1"/>
              <a:t>tw-ar</a:t>
            </a:r>
            <a:r>
              <a:rPr lang="en-US" sz="2400" dirty="0"/>
              <a:t>) to provide MMB-at-survey time series</a:t>
            </a:r>
          </a:p>
          <a:p>
            <a:pPr marL="725348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diagnostics?</a:t>
            </a:r>
          </a:p>
          <a:p>
            <a:pPr lvl="1"/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corner stations</a:t>
            </a:r>
          </a:p>
          <a:p>
            <a:pPr marL="725348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keep historical data from (discontinued) corner stations</a:t>
            </a:r>
          </a:p>
          <a:p>
            <a:pPr marL="725348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dirty="0" err="1"/>
              <a:t>sdmTMB</a:t>
            </a:r>
            <a:r>
              <a:rPr lang="en-US" sz="2400" dirty="0"/>
              <a:t> to reduce changes in survey design? </a:t>
            </a:r>
          </a:p>
          <a:p>
            <a:pPr lvl="1"/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crabpack</a:t>
            </a:r>
            <a:endParaRPr lang="en-US" sz="2400" dirty="0"/>
          </a:p>
          <a:p>
            <a:pPr marL="725348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use full-precision CL measurements with length-weight regressions to determine biomass</a:t>
            </a:r>
          </a:p>
          <a:p>
            <a:pPr marL="725348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drop “extra” stations in 1979</a:t>
            </a:r>
          </a:p>
        </p:txBody>
      </p:sp>
    </p:spTree>
    <p:extLst>
      <p:ext uri="{BB962C8B-B14F-4D97-AF65-F5344CB8AC3E}">
        <p14:creationId xmlns:p14="http://schemas.microsoft.com/office/powerpoint/2010/main" val="3538183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hoto of a Blue King Crab">
            <a:extLst>
              <a:ext uri="{FF2B5EF4-FFF2-40B4-BE49-F238E27FC236}">
                <a16:creationId xmlns:a16="http://schemas.microsoft.com/office/drawing/2014/main" id="{C558A2D8-3F28-6BE1-5B96-393FCCB3D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270" y="-16935"/>
            <a:ext cx="10668000" cy="6874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360599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: Horizontal Stacked Logo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Widescreen_2022" id="{0231C60E-7BCA-9E49-8328-FCA45D4EE737}" vid="{1E159D7C-9651-8847-A784-5BB08D89AECC}"/>
    </a:ext>
  </a:extLst>
</a:theme>
</file>

<file path=ppt/theme/theme2.xml><?xml version="1.0" encoding="utf-8"?>
<a:theme xmlns:a="http://schemas.openxmlformats.org/drawingml/2006/main" name="Content Option 1  |  End Slide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Widescreen_2022" id="{0231C60E-7BCA-9E49-8328-FCA45D4EE737}" vid="{D623B3A3-F636-0C4C-A782-38BD7F5CB56C}"/>
    </a:ext>
  </a:extLst>
</a:theme>
</file>

<file path=ppt/theme/theme3.xml><?xml version="1.0" encoding="utf-8"?>
<a:theme xmlns:a="http://schemas.openxmlformats.org/drawingml/2006/main" name="TITLE SLIDES: Vertical Stacked Logo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Widescreen_2022" id="{0231C60E-7BCA-9E49-8328-FCA45D4EE737}" vid="{6E275BDE-D445-824F-9279-3B5862E3E5E2}"/>
    </a:ext>
  </a:extLst>
</a:theme>
</file>

<file path=ppt/theme/theme4.xml><?xml version="1.0" encoding="utf-8"?>
<a:theme xmlns:a="http://schemas.openxmlformats.org/drawingml/2006/main" name="Content Option 2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Widescreen_2022" id="{0231C60E-7BCA-9E49-8328-FCA45D4EE737}" vid="{E5E44C74-B21C-4042-803A-B96A6775557D}"/>
    </a:ext>
  </a:extLst>
</a:theme>
</file>

<file path=ppt/theme/theme5.xml><?xml version="1.0" encoding="utf-8"?>
<a:theme xmlns:a="http://schemas.openxmlformats.org/drawingml/2006/main" name="Divider Slides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Widescreen_2022" id="{0231C60E-7BCA-9E49-8328-FCA45D4EE737}" vid="{9C9E7125-D56F-CC49-9EA4-C4C179F4BFA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WidescreenPPT.2022</Template>
  <TotalTime>6137</TotalTime>
  <Words>494</Words>
  <Application>Microsoft Macintosh PowerPoint</Application>
  <PresentationFormat>Widescreen</PresentationFormat>
  <Paragraphs>77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Arial Narrow</vt:lpstr>
      <vt:lpstr>Calibri</vt:lpstr>
      <vt:lpstr>Cambria</vt:lpstr>
      <vt:lpstr>Helvetica</vt:lpstr>
      <vt:lpstr>Wingdings 2</vt:lpstr>
      <vt:lpstr>TITLE SLIDES: Horizontal Stacked Logo</vt:lpstr>
      <vt:lpstr>Content Option 1  |  End Slide</vt:lpstr>
      <vt:lpstr>TITLE SLIDES: Vertical Stacked Logo</vt:lpstr>
      <vt:lpstr>Content Option 2</vt:lpstr>
      <vt:lpstr>Divider Slides</vt:lpstr>
      <vt:lpstr>2025-05 Pribilof Islands Blue King Crab  Report TO CPT</vt:lpstr>
      <vt:lpstr>CPT and SSC Comments</vt:lpstr>
      <vt:lpstr>Topics</vt:lpstr>
      <vt:lpstr>crabpack  comparisons </vt:lpstr>
      <vt:lpstr>crabpack  comparisons </vt:lpstr>
      <vt:lpstr>no corner  stations</vt:lpstr>
      <vt:lpstr>no corner  stations </vt:lpstr>
      <vt:lpstr>no corner stations </vt:lpstr>
      <vt:lpstr>Tier 4 part of PIBKC Assessment: Determine BMSY</vt:lpstr>
      <vt:lpstr>dealing with time series 0’s</vt:lpstr>
      <vt:lpstr>dealing with time series 0’s: ad hoc approaches</vt:lpstr>
      <vt:lpstr>dealing with time series 0’s: ad hoc approaches </vt:lpstr>
      <vt:lpstr>dealing with time series 0’s: ad hoc approaches</vt:lpstr>
      <vt:lpstr>dealing with time series 0’s: ad hoc approaches</vt:lpstr>
      <vt:lpstr>dealing with time series 0’s: sdmTMB</vt:lpstr>
      <vt:lpstr>dealing with time series 0’s</vt:lpstr>
      <vt:lpstr>dealing with time series 0’s</vt:lpstr>
      <vt:lpstr>Recommendations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2025-05 PIBKC Report To CPT</dc:title>
  <dc:subject/>
  <dc:creator>William Stockhausen</dc:creator>
  <cp:keywords/>
  <dc:description/>
  <cp:lastModifiedBy>William Stockhausen</cp:lastModifiedBy>
  <cp:revision>62</cp:revision>
  <dcterms:created xsi:type="dcterms:W3CDTF">2019-04-30T04:29:47Z</dcterms:created>
  <dcterms:modified xsi:type="dcterms:W3CDTF">2025-05-09T16:50:44Z</dcterms:modified>
  <cp:category/>
</cp:coreProperties>
</file>